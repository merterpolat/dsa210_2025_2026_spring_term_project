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599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4.png"/><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116854" y="1588536"/>
            <a:ext cx="5552425" cy="3680927"/>
          </a:xfrm>
          <a:prstGeom prst="rect">
            <a:avLst/>
          </a:prstGeom>
        </p:spPr>
      </p:pic>
      <p:sp>
        <p:nvSpPr>
          <p:cNvPr id="4" name="Shape 1"/>
          <p:cNvSpPr/>
          <p:nvPr/>
        </p:nvSpPr>
        <p:spPr>
          <a:xfrm>
            <a:off x="5760720" y="0"/>
            <a:ext cx="6400800" cy="6858000"/>
          </a:xfrm>
          <a:prstGeom prst="rect">
            <a:avLst/>
          </a:prstGeom>
          <a:solidFill>
            <a:srgbClr val="0D0D0D"/>
          </a:solidFill>
          <a:ln/>
        </p:spPr>
        <p:txBody>
          <a:bodyPr/>
          <a:lstStyle/>
          <a:p>
            <a:endParaRPr lang="tr-TR"/>
          </a:p>
        </p:txBody>
      </p:sp>
      <p:sp>
        <p:nvSpPr>
          <p:cNvPr id="5" name="Shape 2"/>
          <p:cNvSpPr/>
          <p:nvPr/>
        </p:nvSpPr>
        <p:spPr>
          <a:xfrm>
            <a:off x="5742432" y="0"/>
            <a:ext cx="64008" cy="6858000"/>
          </a:xfrm>
          <a:prstGeom prst="rect">
            <a:avLst/>
          </a:prstGeom>
          <a:solidFill>
            <a:srgbClr val="E63946"/>
          </a:solidFill>
          <a:ln/>
        </p:spPr>
        <p:txBody>
          <a:bodyPr/>
          <a:lstStyle/>
          <a:p>
            <a:endParaRPr lang="tr-TR"/>
          </a:p>
        </p:txBody>
      </p:sp>
      <p:sp>
        <p:nvSpPr>
          <p:cNvPr id="6" name="Text 3"/>
          <p:cNvSpPr/>
          <p:nvPr/>
        </p:nvSpPr>
        <p:spPr>
          <a:xfrm>
            <a:off x="6035040" y="914400"/>
            <a:ext cx="5852160" cy="640080"/>
          </a:xfrm>
          <a:prstGeom prst="rect">
            <a:avLst/>
          </a:prstGeom>
          <a:noFill/>
          <a:ln/>
        </p:spPr>
        <p:txBody>
          <a:bodyPr wrap="square" rtlCol="0" anchor="ctr"/>
          <a:lstStyle/>
          <a:p>
            <a:pPr marL="0" indent="0">
              <a:buNone/>
            </a:pPr>
            <a:r>
              <a:rPr lang="en-US" sz="3500" b="1" kern="0" spc="300" dirty="0">
                <a:solidFill>
                  <a:srgbClr val="FFFFFF"/>
                </a:solidFill>
                <a:latin typeface="Arial Black" pitchFamily="34" charset="0"/>
                <a:ea typeface="Arial Black" pitchFamily="34" charset="-122"/>
                <a:cs typeface="Arial Black" pitchFamily="34" charset="-120"/>
              </a:rPr>
              <a:t>QUANTITATIVE</a:t>
            </a:r>
            <a:endParaRPr lang="en-US" sz="3500" dirty="0"/>
          </a:p>
        </p:txBody>
      </p:sp>
      <p:sp>
        <p:nvSpPr>
          <p:cNvPr id="7" name="Text 4"/>
          <p:cNvSpPr/>
          <p:nvPr/>
        </p:nvSpPr>
        <p:spPr>
          <a:xfrm>
            <a:off x="6035040" y="1554480"/>
            <a:ext cx="5852160" cy="640080"/>
          </a:xfrm>
          <a:prstGeom prst="rect">
            <a:avLst/>
          </a:prstGeom>
          <a:noFill/>
          <a:ln/>
        </p:spPr>
        <p:txBody>
          <a:bodyPr wrap="square" rtlCol="0" anchor="ctr"/>
          <a:lstStyle/>
          <a:p>
            <a:pPr marL="0" indent="0">
              <a:buNone/>
            </a:pPr>
            <a:r>
              <a:rPr lang="en-US" sz="3500" b="1" kern="0" spc="300" dirty="0">
                <a:solidFill>
                  <a:srgbClr val="E63946"/>
                </a:solidFill>
                <a:latin typeface="Arial Black" pitchFamily="34" charset="0"/>
                <a:ea typeface="Arial Black" pitchFamily="34" charset="-122"/>
                <a:cs typeface="Arial Black" pitchFamily="34" charset="-120"/>
              </a:rPr>
              <a:t>ANALYSIS OF</a:t>
            </a:r>
            <a:endParaRPr lang="en-US" sz="3500" dirty="0"/>
          </a:p>
        </p:txBody>
      </p:sp>
      <p:sp>
        <p:nvSpPr>
          <p:cNvPr id="8" name="Text 5"/>
          <p:cNvSpPr/>
          <p:nvPr/>
        </p:nvSpPr>
        <p:spPr>
          <a:xfrm>
            <a:off x="6035040" y="2194560"/>
            <a:ext cx="5852160" cy="640080"/>
          </a:xfrm>
          <a:prstGeom prst="rect">
            <a:avLst/>
          </a:prstGeom>
          <a:noFill/>
          <a:ln/>
        </p:spPr>
        <p:txBody>
          <a:bodyPr wrap="square" rtlCol="0" anchor="ctr"/>
          <a:lstStyle/>
          <a:p>
            <a:pPr marL="0" indent="0">
              <a:buNone/>
            </a:pPr>
            <a:r>
              <a:rPr lang="en-US" sz="3500" b="1" kern="0" spc="300" dirty="0">
                <a:solidFill>
                  <a:srgbClr val="FFFFFF"/>
                </a:solidFill>
                <a:latin typeface="Arial Black" pitchFamily="34" charset="0"/>
                <a:ea typeface="Arial Black" pitchFamily="34" charset="-122"/>
                <a:cs typeface="Arial Black" pitchFamily="34" charset="-120"/>
              </a:rPr>
              <a:t>GRAPPLING &amp;</a:t>
            </a:r>
            <a:endParaRPr lang="en-US" sz="3500" dirty="0"/>
          </a:p>
        </p:txBody>
      </p:sp>
      <p:sp>
        <p:nvSpPr>
          <p:cNvPr id="9" name="Text 6"/>
          <p:cNvSpPr/>
          <p:nvPr/>
        </p:nvSpPr>
        <p:spPr>
          <a:xfrm>
            <a:off x="6035040" y="2834640"/>
            <a:ext cx="5852160" cy="640080"/>
          </a:xfrm>
          <a:prstGeom prst="rect">
            <a:avLst/>
          </a:prstGeom>
          <a:noFill/>
          <a:ln/>
        </p:spPr>
        <p:txBody>
          <a:bodyPr wrap="square" rtlCol="0" anchor="ctr"/>
          <a:lstStyle/>
          <a:p>
            <a:pPr marL="0" indent="0">
              <a:buNone/>
            </a:pPr>
            <a:r>
              <a:rPr lang="en-US" sz="3500" b="1" kern="0" spc="200" dirty="0">
                <a:solidFill>
                  <a:srgbClr val="00B4D8"/>
                </a:solidFill>
                <a:latin typeface="Arial Black" pitchFamily="34" charset="0"/>
                <a:ea typeface="Arial Black" pitchFamily="34" charset="-122"/>
                <a:cs typeface="Arial Black" pitchFamily="34" charset="-120"/>
              </a:rPr>
              <a:t>STRIKING METRICS</a:t>
            </a:r>
            <a:endParaRPr lang="en-US" sz="3500" dirty="0"/>
          </a:p>
        </p:txBody>
      </p:sp>
      <p:sp>
        <p:nvSpPr>
          <p:cNvPr id="10" name="Shape 7"/>
          <p:cNvSpPr/>
          <p:nvPr/>
        </p:nvSpPr>
        <p:spPr>
          <a:xfrm>
            <a:off x="6035040" y="3657600"/>
            <a:ext cx="5303520" cy="45720"/>
          </a:xfrm>
          <a:prstGeom prst="rect">
            <a:avLst/>
          </a:prstGeom>
          <a:solidFill>
            <a:srgbClr val="E63946"/>
          </a:solidFill>
          <a:ln/>
        </p:spPr>
        <p:txBody>
          <a:bodyPr/>
          <a:lstStyle/>
          <a:p>
            <a:endParaRPr lang="tr-TR"/>
          </a:p>
        </p:txBody>
      </p:sp>
      <p:sp>
        <p:nvSpPr>
          <p:cNvPr id="11" name="Text 8"/>
          <p:cNvSpPr/>
          <p:nvPr/>
        </p:nvSpPr>
        <p:spPr>
          <a:xfrm>
            <a:off x="6035040" y="3794760"/>
            <a:ext cx="5852160" cy="320040"/>
          </a:xfrm>
          <a:prstGeom prst="rect">
            <a:avLst/>
          </a:prstGeom>
          <a:noFill/>
          <a:ln/>
        </p:spPr>
        <p:txBody>
          <a:bodyPr wrap="square" rtlCol="0" anchor="ctr"/>
          <a:lstStyle/>
          <a:p>
            <a:pPr marL="0" indent="0">
              <a:buNone/>
            </a:pPr>
            <a:r>
              <a:rPr lang="en-US" sz="1300" i="1" dirty="0">
                <a:solidFill>
                  <a:srgbClr val="9BA4B5"/>
                </a:solidFill>
                <a:latin typeface="Calibri" pitchFamily="34" charset="0"/>
                <a:ea typeface="Calibri" pitchFamily="34" charset="-122"/>
                <a:cs typeface="Calibri" pitchFamily="34" charset="-120"/>
              </a:rPr>
              <a:t>DSA210 Spring 2026</a:t>
            </a:r>
            <a:endParaRPr lang="en-US" sz="1300" dirty="0"/>
          </a:p>
        </p:txBody>
      </p:sp>
      <p:sp>
        <p:nvSpPr>
          <p:cNvPr id="12" name="Text 9"/>
          <p:cNvSpPr/>
          <p:nvPr/>
        </p:nvSpPr>
        <p:spPr>
          <a:xfrm>
            <a:off x="6035040" y="4160520"/>
            <a:ext cx="5852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Mert Erpolat  |  Student ID: 32236</a:t>
            </a:r>
            <a:endParaRPr lang="en-US" sz="1400" dirty="0"/>
          </a:p>
        </p:txBody>
      </p:sp>
      <p:sp>
        <p:nvSpPr>
          <p:cNvPr id="13" name="Text 10"/>
          <p:cNvSpPr/>
          <p:nvPr/>
        </p:nvSpPr>
        <p:spPr>
          <a:xfrm>
            <a:off x="6035040" y="4498848"/>
            <a:ext cx="5852160" cy="274320"/>
          </a:xfrm>
          <a:prstGeom prst="rect">
            <a:avLst/>
          </a:prstGeom>
          <a:noFill/>
          <a:ln/>
        </p:spPr>
        <p:txBody>
          <a:bodyPr wrap="square" rtlCol="0" anchor="ctr"/>
          <a:lstStyle/>
          <a:p>
            <a:pPr marL="0" indent="0">
              <a:buNone/>
            </a:pPr>
            <a:r>
              <a:rPr lang="en-US" sz="1300" dirty="0">
                <a:solidFill>
                  <a:srgbClr val="9BA4B5"/>
                </a:solidFill>
                <a:latin typeface="Calibri" pitchFamily="34" charset="0"/>
                <a:ea typeface="Calibri" pitchFamily="34" charset="-122"/>
                <a:cs typeface="Calibri" pitchFamily="34" charset="-120"/>
              </a:rPr>
              <a:t>Sabanci University</a:t>
            </a:r>
            <a:endParaRPr lang="en-US" sz="1300" dirty="0"/>
          </a:p>
        </p:txBody>
      </p:sp>
      <p:sp>
        <p:nvSpPr>
          <p:cNvPr id="14" name="Text 11"/>
          <p:cNvSpPr/>
          <p:nvPr/>
        </p:nvSpPr>
        <p:spPr>
          <a:xfrm>
            <a:off x="6035040" y="6400800"/>
            <a:ext cx="5852160" cy="274320"/>
          </a:xfrm>
          <a:prstGeom prst="rect">
            <a:avLst/>
          </a:prstGeom>
          <a:noFill/>
          <a:ln/>
        </p:spPr>
        <p:txBody>
          <a:bodyPr wrap="square" rtlCol="0" anchor="ctr"/>
          <a:lstStyle/>
          <a:p>
            <a:pPr marL="0" indent="0">
              <a:buNone/>
            </a:pPr>
            <a:r>
              <a:rPr lang="en-US" sz="900" b="1" kern="0" spc="100" dirty="0">
                <a:solidFill>
                  <a:srgbClr val="E63946"/>
                </a:solidFill>
                <a:latin typeface="Calibri" pitchFamily="34" charset="0"/>
                <a:ea typeface="Calibri" pitchFamily="34" charset="-122"/>
                <a:cs typeface="Calibri" pitchFamily="34" charset="-120"/>
              </a:rPr>
              <a:t>UFC FIGHT HISTORICAL DATA  •  6,012 BOUTS  •  1993–2021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RESEARCH MOTIVATION</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 / 19</a:t>
            </a:r>
            <a:endParaRPr lang="en-US" sz="1000" dirty="0"/>
          </a:p>
        </p:txBody>
      </p:sp>
      <p:pic>
        <p:nvPicPr>
          <p:cNvPr id="6" name="Image 0" descr="preencoded.png"/>
          <p:cNvPicPr>
            <a:picLocks noChangeAspect="1"/>
          </p:cNvPicPr>
          <p:nvPr/>
        </p:nvPicPr>
        <p:blipFill>
          <a:blip r:embed="rId3"/>
          <a:srcRect/>
          <a:stretch/>
        </p:blipFill>
        <p:spPr>
          <a:xfrm>
            <a:off x="304800" y="2346697"/>
            <a:ext cx="5001768" cy="3819532"/>
          </a:xfrm>
          <a:prstGeom prst="rect">
            <a:avLst/>
          </a:prstGeom>
        </p:spPr>
      </p:pic>
      <p:sp>
        <p:nvSpPr>
          <p:cNvPr id="8" name="Text 5"/>
          <p:cNvSpPr/>
          <p:nvPr/>
        </p:nvSpPr>
        <p:spPr>
          <a:xfrm>
            <a:off x="374904" y="1097280"/>
            <a:ext cx="3851863" cy="1347340"/>
          </a:xfrm>
          <a:prstGeom prst="rect">
            <a:avLst/>
          </a:prstGeom>
          <a:noFill/>
          <a:ln/>
        </p:spPr>
        <p:txBody>
          <a:bodyPr wrap="square" rtlCol="0" anchor="t"/>
          <a:lstStyle/>
          <a:p>
            <a:pPr marL="0" indent="0">
              <a:buNone/>
            </a:pPr>
            <a:r>
              <a:rPr lang="en-US" sz="2400" b="1" dirty="0">
                <a:solidFill>
                  <a:srgbClr val="FFFFFF"/>
                </a:solidFill>
                <a:latin typeface="Arial Black" pitchFamily="34" charset="0"/>
                <a:ea typeface="Arial Black" pitchFamily="34" charset="-122"/>
                <a:cs typeface="Arial Black" pitchFamily="34" charset="-120"/>
              </a:rPr>
              <a:t>ARE GRAPPLERS</a:t>
            </a:r>
            <a:endParaRPr lang="en-US" sz="2400" dirty="0"/>
          </a:p>
          <a:p>
            <a:pPr marL="0" indent="0">
              <a:buNone/>
            </a:pPr>
            <a:r>
              <a:rPr lang="en-US" sz="2400" b="1" dirty="0">
                <a:solidFill>
                  <a:srgbClr val="FFFFFF"/>
                </a:solidFill>
                <a:latin typeface="Arial Black" pitchFamily="34" charset="0"/>
                <a:ea typeface="Arial Black" pitchFamily="34" charset="-122"/>
                <a:cs typeface="Arial Black" pitchFamily="34" charset="-120"/>
              </a:rPr>
              <a:t>TRULY MORE</a:t>
            </a:r>
            <a:endParaRPr lang="en-US" sz="2400" dirty="0"/>
          </a:p>
          <a:p>
            <a:pPr marL="0" indent="0">
              <a:buNone/>
            </a:pPr>
            <a:r>
              <a:rPr lang="en-US" sz="2400" b="1" dirty="0">
                <a:solidFill>
                  <a:srgbClr val="FFFFFF"/>
                </a:solidFill>
                <a:latin typeface="Arial Black" pitchFamily="34" charset="0"/>
                <a:ea typeface="Arial Black" pitchFamily="34" charset="-122"/>
                <a:cs typeface="Arial Black" pitchFamily="34" charset="-120"/>
              </a:rPr>
              <a:t>DOMINANT?</a:t>
            </a:r>
            <a:endParaRPr lang="en-US" sz="2400" dirty="0"/>
          </a:p>
        </p:txBody>
      </p:sp>
      <p:sp>
        <p:nvSpPr>
          <p:cNvPr id="9" name="Text 6"/>
          <p:cNvSpPr/>
          <p:nvPr/>
        </p:nvSpPr>
        <p:spPr>
          <a:xfrm>
            <a:off x="365760" y="6394829"/>
            <a:ext cx="5029200" cy="201168"/>
          </a:xfrm>
          <a:prstGeom prst="rect">
            <a:avLst/>
          </a:prstGeom>
          <a:noFill/>
          <a:ln/>
        </p:spPr>
        <p:txBody>
          <a:bodyPr wrap="square" rtlCol="0" anchor="ctr"/>
          <a:lstStyle/>
          <a:p>
            <a:pPr marL="0" indent="0">
              <a:buNone/>
            </a:pPr>
            <a:r>
              <a:rPr lang="en-US" sz="800" i="1" dirty="0">
                <a:solidFill>
                  <a:srgbClr val="9BA4B5"/>
                </a:solidFill>
                <a:latin typeface="Calibri" pitchFamily="34" charset="0"/>
                <a:ea typeface="Calibri" pitchFamily="34" charset="-122"/>
                <a:cs typeface="Calibri" pitchFamily="34" charset="-120"/>
              </a:rPr>
              <a:t>Source: essentiallysports.com</a:t>
            </a:r>
            <a:endParaRPr lang="en-US" sz="800" dirty="0"/>
          </a:p>
        </p:txBody>
      </p:sp>
      <p:sp>
        <p:nvSpPr>
          <p:cNvPr id="10" name="Shape 7"/>
          <p:cNvSpPr/>
          <p:nvPr/>
        </p:nvSpPr>
        <p:spPr>
          <a:xfrm>
            <a:off x="5669280" y="1005840"/>
            <a:ext cx="6217920" cy="5029200"/>
          </a:xfrm>
          <a:prstGeom prst="rect">
            <a:avLst/>
          </a:prstGeom>
          <a:solidFill>
            <a:srgbClr val="1A1A2E"/>
          </a:solidFill>
          <a:ln/>
        </p:spPr>
        <p:txBody>
          <a:bodyPr/>
          <a:lstStyle/>
          <a:p>
            <a:endParaRPr lang="tr-TR"/>
          </a:p>
        </p:txBody>
      </p:sp>
      <p:sp>
        <p:nvSpPr>
          <p:cNvPr id="11" name="Shape 8"/>
          <p:cNvSpPr/>
          <p:nvPr/>
        </p:nvSpPr>
        <p:spPr>
          <a:xfrm>
            <a:off x="5669280" y="1005840"/>
            <a:ext cx="54864" cy="5029200"/>
          </a:xfrm>
          <a:prstGeom prst="rect">
            <a:avLst/>
          </a:prstGeom>
          <a:solidFill>
            <a:srgbClr val="00B4D8"/>
          </a:solidFill>
          <a:ln/>
        </p:spPr>
        <p:txBody>
          <a:bodyPr/>
          <a:lstStyle/>
          <a:p>
            <a:endParaRPr lang="tr-TR"/>
          </a:p>
        </p:txBody>
      </p:sp>
      <p:sp>
        <p:nvSpPr>
          <p:cNvPr id="12" name="Text 9"/>
          <p:cNvSpPr/>
          <p:nvPr/>
        </p:nvSpPr>
        <p:spPr>
          <a:xfrm>
            <a:off x="5897880" y="1143000"/>
            <a:ext cx="576072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The Question</a:t>
            </a:r>
            <a:endParaRPr lang="en-US" sz="1400" dirty="0"/>
          </a:p>
        </p:txBody>
      </p:sp>
      <p:sp>
        <p:nvSpPr>
          <p:cNvPr id="13" name="Text 10"/>
          <p:cNvSpPr/>
          <p:nvPr/>
        </p:nvSpPr>
        <p:spPr>
          <a:xfrm>
            <a:off x="5897880" y="1508760"/>
            <a:ext cx="5760720" cy="12344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 have been following the UFC closely for almost three years. One debate keeps coming up everywhere — from analysts to casual fans: are grapplers truly more dominant than strikers? Almost everyone seems to believe wrestlers and submission artists hold a structural advantage. Rather than accepting that as fact, I decided to put it to a real data-driven test.</a:t>
            </a:r>
            <a:endParaRPr lang="en-US" sz="1200" dirty="0"/>
          </a:p>
        </p:txBody>
      </p:sp>
      <p:sp>
        <p:nvSpPr>
          <p:cNvPr id="14" name="Text 11"/>
          <p:cNvSpPr/>
          <p:nvPr/>
        </p:nvSpPr>
        <p:spPr>
          <a:xfrm>
            <a:off x="5897880" y="2834640"/>
            <a:ext cx="5760720" cy="347472"/>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The Approach</a:t>
            </a:r>
            <a:endParaRPr lang="en-US" sz="1400" dirty="0"/>
          </a:p>
        </p:txBody>
      </p:sp>
      <p:sp>
        <p:nvSpPr>
          <p:cNvPr id="15" name="Text 12"/>
          <p:cNvSpPr/>
          <p:nvPr/>
        </p:nvSpPr>
        <p:spPr>
          <a:xfrm>
            <a:off x="5897880" y="3200400"/>
            <a:ext cx="5760720" cy="9601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Using 6,012 UFC bouts from 1993 to 2021, I applied statistical hypothesis testing and machine learning to find out whether the grappling advantage is real — and, crucially, under what conditions it actually shows up.</a:t>
            </a:r>
            <a:endParaRPr lang="en-US" sz="1200" dirty="0"/>
          </a:p>
        </p:txBody>
      </p:sp>
      <p:sp>
        <p:nvSpPr>
          <p:cNvPr id="16" name="Text 13"/>
          <p:cNvSpPr/>
          <p:nvPr/>
        </p:nvSpPr>
        <p:spPr>
          <a:xfrm>
            <a:off x="5897880" y="4251960"/>
            <a:ext cx="5760720" cy="320040"/>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Two Core Questions</a:t>
            </a:r>
            <a:endParaRPr lang="en-US" sz="1400" dirty="0"/>
          </a:p>
        </p:txBody>
      </p:sp>
      <p:sp>
        <p:nvSpPr>
          <p:cNvPr id="17" name="Text 14"/>
          <p:cNvSpPr/>
          <p:nvPr/>
        </p:nvSpPr>
        <p:spPr>
          <a:xfrm>
            <a:off x="5897880" y="4617720"/>
            <a:ext cx="5760720" cy="822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Short-term: Does takedown accuracy predict who wins an individual fight? (t-test)</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Long-term: Do grappling metrics predict which fighters build lasting UFC careers? (ML)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DATASET OVERVIEW</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2 / 19</a:t>
            </a:r>
            <a:endParaRPr lang="en-US" sz="1000" dirty="0"/>
          </a:p>
        </p:txBody>
      </p:sp>
      <p:sp>
        <p:nvSpPr>
          <p:cNvPr id="6" name="Shape 4"/>
          <p:cNvSpPr/>
          <p:nvPr/>
        </p:nvSpPr>
        <p:spPr>
          <a:xfrm>
            <a:off x="365760" y="1005840"/>
            <a:ext cx="2651760" cy="1325880"/>
          </a:xfrm>
          <a:prstGeom prst="rect">
            <a:avLst/>
          </a:prstGeom>
          <a:solidFill>
            <a:srgbClr val="1A1A2E"/>
          </a:solidFill>
          <a:ln w="12700">
            <a:solidFill>
              <a:srgbClr val="E63946"/>
            </a:solidFill>
            <a:prstDash val="solid"/>
          </a:ln>
        </p:spPr>
        <p:txBody>
          <a:bodyPr/>
          <a:lstStyle/>
          <a:p>
            <a:endParaRPr lang="tr-TR"/>
          </a:p>
        </p:txBody>
      </p:sp>
      <p:sp>
        <p:nvSpPr>
          <p:cNvPr id="7" name="Text 5"/>
          <p:cNvSpPr/>
          <p:nvPr/>
        </p:nvSpPr>
        <p:spPr>
          <a:xfrm>
            <a:off x="365760" y="1078992"/>
            <a:ext cx="2651760" cy="594360"/>
          </a:xfrm>
          <a:prstGeom prst="rect">
            <a:avLst/>
          </a:prstGeom>
          <a:noFill/>
          <a:ln/>
        </p:spPr>
        <p:txBody>
          <a:bodyPr wrap="square" rtlCol="0" anchor="ctr"/>
          <a:lstStyle/>
          <a:p>
            <a:pPr marL="0" indent="0" algn="ctr">
              <a:buNone/>
            </a:pPr>
            <a:r>
              <a:rPr lang="en-US" sz="3200" b="1" dirty="0">
                <a:solidFill>
                  <a:srgbClr val="E63946"/>
                </a:solidFill>
                <a:latin typeface="Arial Black" pitchFamily="34" charset="0"/>
                <a:ea typeface="Arial Black" pitchFamily="34" charset="-122"/>
                <a:cs typeface="Arial Black" pitchFamily="34" charset="-120"/>
              </a:rPr>
              <a:t>6,012</a:t>
            </a:r>
            <a:endParaRPr lang="en-US" sz="3200" dirty="0"/>
          </a:p>
        </p:txBody>
      </p:sp>
      <p:sp>
        <p:nvSpPr>
          <p:cNvPr id="8" name="Text 6"/>
          <p:cNvSpPr/>
          <p:nvPr/>
        </p:nvSpPr>
        <p:spPr>
          <a:xfrm>
            <a:off x="365760" y="1664208"/>
            <a:ext cx="26517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BOUTS ANALYZED</a:t>
            </a:r>
            <a:endParaRPr lang="en-US" sz="950" dirty="0"/>
          </a:p>
        </p:txBody>
      </p:sp>
      <p:sp>
        <p:nvSpPr>
          <p:cNvPr id="9" name="Text 7"/>
          <p:cNvSpPr/>
          <p:nvPr/>
        </p:nvSpPr>
        <p:spPr>
          <a:xfrm>
            <a:off x="365760" y="1920240"/>
            <a:ext cx="2651760" cy="22860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1993 – 2021</a:t>
            </a:r>
            <a:endParaRPr lang="en-US" sz="900" dirty="0"/>
          </a:p>
        </p:txBody>
      </p:sp>
      <p:sp>
        <p:nvSpPr>
          <p:cNvPr id="10" name="Shape 8"/>
          <p:cNvSpPr/>
          <p:nvPr/>
        </p:nvSpPr>
        <p:spPr>
          <a:xfrm>
            <a:off x="3200400" y="1005840"/>
            <a:ext cx="2651760" cy="1325880"/>
          </a:xfrm>
          <a:prstGeom prst="rect">
            <a:avLst/>
          </a:prstGeom>
          <a:solidFill>
            <a:srgbClr val="1A1A2E"/>
          </a:solidFill>
          <a:ln w="12700">
            <a:solidFill>
              <a:srgbClr val="00B4D8"/>
            </a:solidFill>
            <a:prstDash val="solid"/>
          </a:ln>
        </p:spPr>
        <p:txBody>
          <a:bodyPr/>
          <a:lstStyle/>
          <a:p>
            <a:endParaRPr lang="tr-TR"/>
          </a:p>
        </p:txBody>
      </p:sp>
      <p:sp>
        <p:nvSpPr>
          <p:cNvPr id="11" name="Text 9"/>
          <p:cNvSpPr/>
          <p:nvPr/>
        </p:nvSpPr>
        <p:spPr>
          <a:xfrm>
            <a:off x="3200400" y="1078992"/>
            <a:ext cx="2651760" cy="594360"/>
          </a:xfrm>
          <a:prstGeom prst="rect">
            <a:avLst/>
          </a:prstGeom>
          <a:noFill/>
          <a:ln/>
        </p:spPr>
        <p:txBody>
          <a:bodyPr wrap="square" rtlCol="0" anchor="ctr"/>
          <a:lstStyle/>
          <a:p>
            <a:pPr marL="0" indent="0" algn="ctr">
              <a:buNone/>
            </a:pPr>
            <a:r>
              <a:rPr lang="en-US" sz="3200" b="1" dirty="0">
                <a:solidFill>
                  <a:srgbClr val="00B4D8"/>
                </a:solidFill>
                <a:latin typeface="Arial Black" pitchFamily="34" charset="0"/>
                <a:ea typeface="Arial Black" pitchFamily="34" charset="-122"/>
                <a:cs typeface="Arial Black" pitchFamily="34" charset="-120"/>
              </a:rPr>
              <a:t>3,596</a:t>
            </a:r>
            <a:endParaRPr lang="en-US" sz="3200" dirty="0"/>
          </a:p>
        </p:txBody>
      </p:sp>
      <p:sp>
        <p:nvSpPr>
          <p:cNvPr id="12" name="Text 10"/>
          <p:cNvSpPr/>
          <p:nvPr/>
        </p:nvSpPr>
        <p:spPr>
          <a:xfrm>
            <a:off x="3200400" y="1664208"/>
            <a:ext cx="26517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UNIQUE FIGHTERS</a:t>
            </a:r>
            <a:endParaRPr lang="en-US" sz="950" dirty="0"/>
          </a:p>
        </p:txBody>
      </p:sp>
      <p:sp>
        <p:nvSpPr>
          <p:cNvPr id="13" name="Text 11"/>
          <p:cNvSpPr/>
          <p:nvPr/>
        </p:nvSpPr>
        <p:spPr>
          <a:xfrm>
            <a:off x="3200400" y="1920240"/>
            <a:ext cx="2651760" cy="22860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UFC athletes</a:t>
            </a:r>
            <a:endParaRPr lang="en-US" sz="900" dirty="0"/>
          </a:p>
        </p:txBody>
      </p:sp>
      <p:sp>
        <p:nvSpPr>
          <p:cNvPr id="14" name="Shape 12"/>
          <p:cNvSpPr/>
          <p:nvPr/>
        </p:nvSpPr>
        <p:spPr>
          <a:xfrm>
            <a:off x="6035040" y="1005840"/>
            <a:ext cx="2651760" cy="1325880"/>
          </a:xfrm>
          <a:prstGeom prst="rect">
            <a:avLst/>
          </a:prstGeom>
          <a:solidFill>
            <a:srgbClr val="1A1A2E"/>
          </a:solidFill>
          <a:ln w="12700">
            <a:solidFill>
              <a:srgbClr val="FFB703"/>
            </a:solidFill>
            <a:prstDash val="solid"/>
          </a:ln>
        </p:spPr>
        <p:txBody>
          <a:bodyPr/>
          <a:lstStyle/>
          <a:p>
            <a:endParaRPr lang="tr-TR"/>
          </a:p>
        </p:txBody>
      </p:sp>
      <p:sp>
        <p:nvSpPr>
          <p:cNvPr id="15" name="Text 13"/>
          <p:cNvSpPr/>
          <p:nvPr/>
        </p:nvSpPr>
        <p:spPr>
          <a:xfrm>
            <a:off x="6035040" y="1078992"/>
            <a:ext cx="2651760" cy="594360"/>
          </a:xfrm>
          <a:prstGeom prst="rect">
            <a:avLst/>
          </a:prstGeom>
          <a:noFill/>
          <a:ln/>
        </p:spPr>
        <p:txBody>
          <a:bodyPr wrap="square" rtlCol="0" anchor="ctr"/>
          <a:lstStyle/>
          <a:p>
            <a:pPr marL="0" indent="0" algn="ctr">
              <a:buNone/>
            </a:pPr>
            <a:r>
              <a:rPr lang="en-US" sz="3200" b="1" dirty="0">
                <a:solidFill>
                  <a:srgbClr val="FFB703"/>
                </a:solidFill>
                <a:latin typeface="Arial Black" pitchFamily="34" charset="0"/>
                <a:ea typeface="Arial Black" pitchFamily="34" charset="-122"/>
                <a:cs typeface="Arial Black" pitchFamily="34" charset="-120"/>
              </a:rPr>
              <a:t>144</a:t>
            </a:r>
            <a:endParaRPr lang="en-US" sz="3200" dirty="0"/>
          </a:p>
        </p:txBody>
      </p:sp>
      <p:sp>
        <p:nvSpPr>
          <p:cNvPr id="16" name="Text 14"/>
          <p:cNvSpPr/>
          <p:nvPr/>
        </p:nvSpPr>
        <p:spPr>
          <a:xfrm>
            <a:off x="6035040" y="1664208"/>
            <a:ext cx="26517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VARIABLES</a:t>
            </a:r>
            <a:endParaRPr lang="en-US" sz="950" dirty="0"/>
          </a:p>
        </p:txBody>
      </p:sp>
      <p:sp>
        <p:nvSpPr>
          <p:cNvPr id="17" name="Text 15"/>
          <p:cNvSpPr/>
          <p:nvPr/>
        </p:nvSpPr>
        <p:spPr>
          <a:xfrm>
            <a:off x="6035040" y="1920240"/>
            <a:ext cx="2651760" cy="22860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strikes · grappling · physical</a:t>
            </a:r>
            <a:endParaRPr lang="en-US" sz="900" dirty="0"/>
          </a:p>
        </p:txBody>
      </p:sp>
      <p:sp>
        <p:nvSpPr>
          <p:cNvPr id="18" name="Shape 16"/>
          <p:cNvSpPr/>
          <p:nvPr/>
        </p:nvSpPr>
        <p:spPr>
          <a:xfrm>
            <a:off x="8869680" y="1005840"/>
            <a:ext cx="2651760" cy="1325880"/>
          </a:xfrm>
          <a:prstGeom prst="rect">
            <a:avLst/>
          </a:prstGeom>
          <a:solidFill>
            <a:srgbClr val="1A1A2E"/>
          </a:solidFill>
          <a:ln w="12700">
            <a:solidFill>
              <a:srgbClr val="4CAF50"/>
            </a:solidFill>
            <a:prstDash val="solid"/>
          </a:ln>
        </p:spPr>
        <p:txBody>
          <a:bodyPr/>
          <a:lstStyle/>
          <a:p>
            <a:endParaRPr lang="tr-TR"/>
          </a:p>
        </p:txBody>
      </p:sp>
      <p:sp>
        <p:nvSpPr>
          <p:cNvPr id="19" name="Text 17"/>
          <p:cNvSpPr/>
          <p:nvPr/>
        </p:nvSpPr>
        <p:spPr>
          <a:xfrm>
            <a:off x="8869680" y="1078992"/>
            <a:ext cx="2651760" cy="594360"/>
          </a:xfrm>
          <a:prstGeom prst="rect">
            <a:avLst/>
          </a:prstGeom>
          <a:noFill/>
          <a:ln/>
        </p:spPr>
        <p:txBody>
          <a:bodyPr wrap="square" rtlCol="0" anchor="ctr"/>
          <a:lstStyle/>
          <a:p>
            <a:pPr marL="0" indent="0" algn="ctr">
              <a:buNone/>
            </a:pPr>
            <a:r>
              <a:rPr lang="en-US" sz="3200" b="1" dirty="0">
                <a:solidFill>
                  <a:srgbClr val="4CAF50"/>
                </a:solidFill>
                <a:latin typeface="Arial Black" pitchFamily="34" charset="0"/>
                <a:ea typeface="Arial Black" pitchFamily="34" charset="-122"/>
                <a:cs typeface="Arial Black" pitchFamily="34" charset="-120"/>
              </a:rPr>
              <a:t>15.3%</a:t>
            </a:r>
            <a:endParaRPr lang="en-US" sz="3200" dirty="0"/>
          </a:p>
        </p:txBody>
      </p:sp>
      <p:sp>
        <p:nvSpPr>
          <p:cNvPr id="20" name="Text 18"/>
          <p:cNvSpPr/>
          <p:nvPr/>
        </p:nvSpPr>
        <p:spPr>
          <a:xfrm>
            <a:off x="8869680" y="1664208"/>
            <a:ext cx="26517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VETERAN RATE</a:t>
            </a:r>
            <a:endParaRPr lang="en-US" sz="950" dirty="0"/>
          </a:p>
        </p:txBody>
      </p:sp>
      <p:sp>
        <p:nvSpPr>
          <p:cNvPr id="21" name="Text 19"/>
          <p:cNvSpPr/>
          <p:nvPr/>
        </p:nvSpPr>
        <p:spPr>
          <a:xfrm>
            <a:off x="8869680" y="1920240"/>
            <a:ext cx="2651760" cy="22860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&gt;10 career fights</a:t>
            </a:r>
            <a:endParaRPr lang="en-US" sz="900" dirty="0"/>
          </a:p>
        </p:txBody>
      </p:sp>
      <p:sp>
        <p:nvSpPr>
          <p:cNvPr id="22" name="Shape 20"/>
          <p:cNvSpPr/>
          <p:nvPr/>
        </p:nvSpPr>
        <p:spPr>
          <a:xfrm>
            <a:off x="365760" y="2514600"/>
            <a:ext cx="11430000" cy="4069080"/>
          </a:xfrm>
          <a:prstGeom prst="rect">
            <a:avLst/>
          </a:prstGeom>
          <a:solidFill>
            <a:srgbClr val="1A1A2E"/>
          </a:solidFill>
          <a:ln/>
        </p:spPr>
        <p:txBody>
          <a:bodyPr/>
          <a:lstStyle/>
          <a:p>
            <a:endParaRPr lang="tr-TR"/>
          </a:p>
        </p:txBody>
      </p:sp>
      <p:sp>
        <p:nvSpPr>
          <p:cNvPr id="23" name="Shape 21"/>
          <p:cNvSpPr/>
          <p:nvPr/>
        </p:nvSpPr>
        <p:spPr>
          <a:xfrm>
            <a:off x="365760" y="2514600"/>
            <a:ext cx="54864" cy="4069080"/>
          </a:xfrm>
          <a:prstGeom prst="rect">
            <a:avLst/>
          </a:prstGeom>
          <a:solidFill>
            <a:srgbClr val="00B4D8"/>
          </a:solidFill>
          <a:ln/>
        </p:spPr>
        <p:txBody>
          <a:bodyPr/>
          <a:lstStyle/>
          <a:p>
            <a:endParaRPr lang="tr-TR"/>
          </a:p>
        </p:txBody>
      </p:sp>
      <p:sp>
        <p:nvSpPr>
          <p:cNvPr id="24" name="Text 22"/>
          <p:cNvSpPr/>
          <p:nvPr/>
        </p:nvSpPr>
        <p:spPr>
          <a:xfrm>
            <a:off x="594360" y="2651760"/>
            <a:ext cx="1097280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About the Dataset</a:t>
            </a:r>
            <a:endParaRPr lang="en-US" sz="1400" dirty="0"/>
          </a:p>
        </p:txBody>
      </p:sp>
      <p:sp>
        <p:nvSpPr>
          <p:cNvPr id="25" name="Text 23"/>
          <p:cNvSpPr/>
          <p:nvPr/>
        </p:nvSpPr>
        <p:spPr>
          <a:xfrm>
            <a:off x="594360" y="3063240"/>
            <a:ext cx="10972800" cy="1691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dataset was sourced from Kaggle (UFC Fight Historical Data), originally scraped from the official UFC statistics database. It consists of two CSV files: data.csv — containing fight-by-fight metrics for all 6,012 bouts — and raw_fighter_details.csv — containing physical and biographical data for 3,596 unique fighters.</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The 144 variables include per-fighter averages for strikes landed and absorbed, takedown attempts and completions, submission attempts, control time, and physical attributes such as height, weight, reach, and stance.</a:t>
            </a:r>
            <a:endParaRPr lang="en-US" sz="1250" dirty="0"/>
          </a:p>
        </p:txBody>
      </p:sp>
      <p:sp>
        <p:nvSpPr>
          <p:cNvPr id="26" name="Text 24"/>
          <p:cNvSpPr/>
          <p:nvPr/>
        </p:nvSpPr>
        <p:spPr>
          <a:xfrm>
            <a:off x="594360" y="4846320"/>
            <a:ext cx="1097280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Data Enrichment</a:t>
            </a:r>
            <a:endParaRPr lang="en-US" sz="1300" dirty="0"/>
          </a:p>
        </p:txBody>
      </p:sp>
      <p:sp>
        <p:nvSpPr>
          <p:cNvPr id="27" name="Text 25"/>
          <p:cNvSpPr/>
          <p:nvPr/>
        </p:nvSpPr>
        <p:spPr>
          <a:xfrm>
            <a:off x="594360" y="5212080"/>
            <a:ext cx="10972800" cy="11887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new feature — Experience_Level — was derived by counting each fighter's total UFC appearances. Fighters with more than 10 career bouts were labelled Veteran (327 fighters, 15.3%); all others were labelled Prospect (1,812 fighters, 84.7%). This single enrichment step transforms fight-level records into a career-level success label that drives the entire machine learning phase.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DATA CLEANING &amp; FEATURE ENGINEERING</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3 / 19</a:t>
            </a:r>
            <a:endParaRPr lang="en-US" sz="1000" dirty="0"/>
          </a:p>
        </p:txBody>
      </p:sp>
      <p:sp>
        <p:nvSpPr>
          <p:cNvPr id="6" name="Shape 4"/>
          <p:cNvSpPr/>
          <p:nvPr/>
        </p:nvSpPr>
        <p:spPr>
          <a:xfrm>
            <a:off x="365760" y="1005840"/>
            <a:ext cx="5394960" cy="5394960"/>
          </a:xfrm>
          <a:prstGeom prst="rect">
            <a:avLst/>
          </a:prstGeom>
          <a:solidFill>
            <a:srgbClr val="1A1A2E"/>
          </a:solidFill>
          <a:ln/>
        </p:spPr>
        <p:txBody>
          <a:bodyPr/>
          <a:lstStyle/>
          <a:p>
            <a:endParaRPr lang="tr-TR"/>
          </a:p>
        </p:txBody>
      </p:sp>
      <p:sp>
        <p:nvSpPr>
          <p:cNvPr id="7" name="Shape 5"/>
          <p:cNvSpPr/>
          <p:nvPr/>
        </p:nvSpPr>
        <p:spPr>
          <a:xfrm>
            <a:off x="365760" y="1005840"/>
            <a:ext cx="54864" cy="5394960"/>
          </a:xfrm>
          <a:prstGeom prst="rect">
            <a:avLst/>
          </a:prstGeom>
          <a:solidFill>
            <a:srgbClr val="E63946"/>
          </a:solidFill>
          <a:ln/>
        </p:spPr>
        <p:txBody>
          <a:bodyPr/>
          <a:lstStyle/>
          <a:p>
            <a:endParaRPr lang="tr-TR"/>
          </a:p>
        </p:txBody>
      </p:sp>
      <p:sp>
        <p:nvSpPr>
          <p:cNvPr id="8" name="Text 6"/>
          <p:cNvSpPr/>
          <p:nvPr/>
        </p:nvSpPr>
        <p:spPr>
          <a:xfrm>
            <a:off x="594360" y="1143000"/>
            <a:ext cx="4937760" cy="347472"/>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Data Cleaning</a:t>
            </a:r>
            <a:endParaRPr lang="en-US" sz="1400" dirty="0"/>
          </a:p>
        </p:txBody>
      </p:sp>
      <p:sp>
        <p:nvSpPr>
          <p:cNvPr id="9" name="Text 7"/>
          <p:cNvSpPr/>
          <p:nvPr/>
        </p:nvSpPr>
        <p:spPr>
          <a:xfrm>
            <a:off x="594360" y="1600200"/>
            <a:ext cx="4937760" cy="274320"/>
          </a:xfrm>
          <a:prstGeom prst="rect">
            <a:avLst/>
          </a:prstGeom>
          <a:noFill/>
          <a:ln/>
        </p:spPr>
        <p:txBody>
          <a:bodyPr wrap="square"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Percentage strings</a:t>
            </a:r>
            <a:endParaRPr lang="en-US" sz="1150" dirty="0"/>
          </a:p>
        </p:txBody>
      </p:sp>
      <p:sp>
        <p:nvSpPr>
          <p:cNvPr id="10" name="Text 8"/>
          <p:cNvSpPr/>
          <p:nvPr/>
        </p:nvSpPr>
        <p:spPr>
          <a:xfrm>
            <a:off x="594360" y="1892808"/>
            <a:ext cx="4937760"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Columns like Str_Acc, TD_Acc, Str_Def, and TD_Def were stored as strings (e.g. '57%'). These were converted to float values by stripping the % sign and dividing by 100.</a:t>
            </a:r>
            <a:endParaRPr lang="en-US" sz="1100" dirty="0"/>
          </a:p>
        </p:txBody>
      </p:sp>
      <p:sp>
        <p:nvSpPr>
          <p:cNvPr id="11" name="Text 9"/>
          <p:cNvSpPr/>
          <p:nvPr/>
        </p:nvSpPr>
        <p:spPr>
          <a:xfrm>
            <a:off x="594360" y="2788920"/>
            <a:ext cx="4937760" cy="274320"/>
          </a:xfrm>
          <a:prstGeom prst="rect">
            <a:avLst/>
          </a:prstGeom>
          <a:noFill/>
          <a:ln/>
        </p:spPr>
        <p:txBody>
          <a:bodyPr wrap="square"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Physical measurements</a:t>
            </a:r>
            <a:endParaRPr lang="en-US" sz="1150" dirty="0"/>
          </a:p>
        </p:txBody>
      </p:sp>
      <p:sp>
        <p:nvSpPr>
          <p:cNvPr id="12" name="Text 10"/>
          <p:cNvSpPr/>
          <p:nvPr/>
        </p:nvSpPr>
        <p:spPr>
          <a:xfrm>
            <a:off x="594360" y="3081528"/>
            <a:ext cx="4937760"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Height, weight and reach were stored as mixed strings ('5\'11"', '185 lbs.'). Each was parsed and converted to metric units (centimetres and kilograms).</a:t>
            </a:r>
            <a:endParaRPr lang="en-US" sz="1100" dirty="0"/>
          </a:p>
        </p:txBody>
      </p:sp>
      <p:sp>
        <p:nvSpPr>
          <p:cNvPr id="13" name="Text 11"/>
          <p:cNvSpPr/>
          <p:nvPr/>
        </p:nvSpPr>
        <p:spPr>
          <a:xfrm>
            <a:off x="594360" y="3977640"/>
            <a:ext cx="4937760" cy="274320"/>
          </a:xfrm>
          <a:prstGeom prst="rect">
            <a:avLst/>
          </a:prstGeom>
          <a:noFill/>
          <a:ln/>
        </p:spPr>
        <p:txBody>
          <a:bodyPr wrap="square"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Missing values</a:t>
            </a:r>
            <a:endParaRPr lang="en-US" sz="1150" dirty="0"/>
          </a:p>
        </p:txBody>
      </p:sp>
      <p:sp>
        <p:nvSpPr>
          <p:cNvPr id="14" name="Text 12"/>
          <p:cNvSpPr/>
          <p:nvPr/>
        </p:nvSpPr>
        <p:spPr>
          <a:xfrm>
            <a:off x="594360" y="4270248"/>
            <a:ext cx="4937760"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Numeric missing values were imputed using column means — the standard approach for continuous sports statistics. 1,912 fighters had missing Reach values.</a:t>
            </a:r>
            <a:endParaRPr lang="en-US" sz="1100" dirty="0"/>
          </a:p>
        </p:txBody>
      </p:sp>
      <p:sp>
        <p:nvSpPr>
          <p:cNvPr id="15" name="Text 13"/>
          <p:cNvSpPr/>
          <p:nvPr/>
        </p:nvSpPr>
        <p:spPr>
          <a:xfrm>
            <a:off x="594360" y="5166360"/>
            <a:ext cx="4937760" cy="274320"/>
          </a:xfrm>
          <a:prstGeom prst="rect">
            <a:avLst/>
          </a:prstGeom>
          <a:noFill/>
          <a:ln/>
        </p:spPr>
        <p:txBody>
          <a:bodyPr wrap="square"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Categorical encoding</a:t>
            </a:r>
            <a:endParaRPr lang="en-US" sz="1150" dirty="0"/>
          </a:p>
        </p:txBody>
      </p:sp>
      <p:sp>
        <p:nvSpPr>
          <p:cNvPr id="16" name="Text 14"/>
          <p:cNvSpPr/>
          <p:nvPr/>
        </p:nvSpPr>
        <p:spPr>
          <a:xfrm>
            <a:off x="594360" y="5458968"/>
            <a:ext cx="4937760" cy="8046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Stance (nominal) was encoded with One-Hot Encoding. Experience_Level (ordinal) was encoded with Label Encoding: Prospect = 0, Veteran = 1.</a:t>
            </a:r>
            <a:endParaRPr lang="en-US" sz="1100" dirty="0"/>
          </a:p>
        </p:txBody>
      </p:sp>
      <p:sp>
        <p:nvSpPr>
          <p:cNvPr id="17" name="Shape 15"/>
          <p:cNvSpPr/>
          <p:nvPr/>
        </p:nvSpPr>
        <p:spPr>
          <a:xfrm>
            <a:off x="6080760" y="1005840"/>
            <a:ext cx="5715000" cy="5394960"/>
          </a:xfrm>
          <a:prstGeom prst="rect">
            <a:avLst/>
          </a:prstGeom>
          <a:solidFill>
            <a:srgbClr val="1A1A2E"/>
          </a:solidFill>
          <a:ln/>
        </p:spPr>
        <p:txBody>
          <a:bodyPr/>
          <a:lstStyle/>
          <a:p>
            <a:endParaRPr lang="tr-TR"/>
          </a:p>
        </p:txBody>
      </p:sp>
      <p:sp>
        <p:nvSpPr>
          <p:cNvPr id="18" name="Shape 16"/>
          <p:cNvSpPr/>
          <p:nvPr/>
        </p:nvSpPr>
        <p:spPr>
          <a:xfrm>
            <a:off x="6080760" y="1005840"/>
            <a:ext cx="54864" cy="5394960"/>
          </a:xfrm>
          <a:prstGeom prst="rect">
            <a:avLst/>
          </a:prstGeom>
          <a:solidFill>
            <a:srgbClr val="00B4D8"/>
          </a:solidFill>
          <a:ln/>
        </p:spPr>
        <p:txBody>
          <a:bodyPr/>
          <a:lstStyle/>
          <a:p>
            <a:endParaRPr lang="tr-TR"/>
          </a:p>
        </p:txBody>
      </p:sp>
      <p:sp>
        <p:nvSpPr>
          <p:cNvPr id="19" name="Text 17"/>
          <p:cNvSpPr/>
          <p:nvPr/>
        </p:nvSpPr>
        <p:spPr>
          <a:xfrm>
            <a:off x="6309360" y="1143000"/>
            <a:ext cx="530352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Engineered Features</a:t>
            </a:r>
            <a:endParaRPr lang="en-US" sz="1400" dirty="0"/>
          </a:p>
        </p:txBody>
      </p:sp>
      <p:sp>
        <p:nvSpPr>
          <p:cNvPr id="20" name="Text 18"/>
          <p:cNvSpPr/>
          <p:nvPr/>
        </p:nvSpPr>
        <p:spPr>
          <a:xfrm>
            <a:off x="6309360" y="1600200"/>
            <a:ext cx="5303520" cy="256032"/>
          </a:xfrm>
          <a:prstGeom prst="rect">
            <a:avLst/>
          </a:prstGeom>
          <a:noFill/>
          <a:ln/>
        </p:spPr>
        <p:txBody>
          <a:bodyPr wrap="square" rtlCol="0" anchor="ctr"/>
          <a:lstStyle/>
          <a:p>
            <a:pPr marL="0" indent="0">
              <a:buNone/>
            </a:pPr>
            <a:r>
              <a:rPr lang="en-US" sz="1150" b="1" dirty="0">
                <a:solidFill>
                  <a:srgbClr val="4CAF50"/>
                </a:solidFill>
                <a:latin typeface="Calibri" pitchFamily="34" charset="0"/>
                <a:ea typeface="Calibri" pitchFamily="34" charset="-122"/>
                <a:cs typeface="Calibri" pitchFamily="34" charset="-120"/>
              </a:rPr>
              <a:t>Grappling_Score</a:t>
            </a:r>
            <a:endParaRPr lang="en-US" sz="1150" dirty="0"/>
          </a:p>
        </p:txBody>
      </p:sp>
      <p:sp>
        <p:nvSpPr>
          <p:cNvPr id="21" name="Text 19"/>
          <p:cNvSpPr/>
          <p:nvPr/>
        </p:nvSpPr>
        <p:spPr>
          <a:xfrm>
            <a:off x="6309360" y="1874520"/>
            <a:ext cx="5303520" cy="228600"/>
          </a:xfrm>
          <a:prstGeom prst="rect">
            <a:avLst/>
          </a:prstGeom>
          <a:noFill/>
          <a:ln/>
        </p:spPr>
        <p:txBody>
          <a:bodyPr wrap="square" rtlCol="0" anchor="ctr"/>
          <a:lstStyle/>
          <a:p>
            <a:pPr marL="0" indent="0">
              <a:buNone/>
            </a:pPr>
            <a:r>
              <a:rPr lang="en-US" sz="1050" i="1" dirty="0">
                <a:solidFill>
                  <a:srgbClr val="FFB703"/>
                </a:solidFill>
                <a:latin typeface="Consolas" pitchFamily="34" charset="0"/>
                <a:ea typeface="Consolas" pitchFamily="34" charset="-122"/>
                <a:cs typeface="Consolas" pitchFamily="34" charset="-120"/>
              </a:rPr>
              <a:t>TD_Avg + TD_Acc + Sub_Avg</a:t>
            </a:r>
            <a:endParaRPr lang="en-US" sz="1050" dirty="0"/>
          </a:p>
        </p:txBody>
      </p:sp>
      <p:sp>
        <p:nvSpPr>
          <p:cNvPr id="22" name="Text 20"/>
          <p:cNvSpPr/>
          <p:nvPr/>
        </p:nvSpPr>
        <p:spPr>
          <a:xfrm>
            <a:off x="6309360" y="2130552"/>
            <a:ext cx="5303520" cy="5943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Combines takedown volume, precision, and submission threat into a single offensive grappling value. Captures how actively and effectively a fighter takes the fight to the ground.</a:t>
            </a:r>
            <a:endParaRPr lang="en-US" sz="1050" dirty="0"/>
          </a:p>
        </p:txBody>
      </p:sp>
      <p:sp>
        <p:nvSpPr>
          <p:cNvPr id="23" name="Text 21"/>
          <p:cNvSpPr/>
          <p:nvPr/>
        </p:nvSpPr>
        <p:spPr>
          <a:xfrm>
            <a:off x="6309360" y="2770632"/>
            <a:ext cx="5303520" cy="256032"/>
          </a:xfrm>
          <a:prstGeom prst="rect">
            <a:avLst/>
          </a:prstGeom>
          <a:noFill/>
          <a:ln/>
        </p:spPr>
        <p:txBody>
          <a:bodyPr wrap="square" rtlCol="0" anchor="ctr"/>
          <a:lstStyle/>
          <a:p>
            <a:pPr marL="0" indent="0">
              <a:buNone/>
            </a:pPr>
            <a:r>
              <a:rPr lang="en-US" sz="1150" b="1" dirty="0">
                <a:solidFill>
                  <a:srgbClr val="E63946"/>
                </a:solidFill>
                <a:latin typeface="Calibri" pitchFamily="34" charset="0"/>
                <a:ea typeface="Calibri" pitchFamily="34" charset="-122"/>
                <a:cs typeface="Calibri" pitchFamily="34" charset="-120"/>
              </a:rPr>
              <a:t>Striking_Score</a:t>
            </a:r>
            <a:endParaRPr lang="en-US" sz="1150" dirty="0"/>
          </a:p>
        </p:txBody>
      </p:sp>
      <p:sp>
        <p:nvSpPr>
          <p:cNvPr id="24" name="Text 22"/>
          <p:cNvSpPr/>
          <p:nvPr/>
        </p:nvSpPr>
        <p:spPr>
          <a:xfrm>
            <a:off x="6309360" y="3044952"/>
            <a:ext cx="5303520" cy="228600"/>
          </a:xfrm>
          <a:prstGeom prst="rect">
            <a:avLst/>
          </a:prstGeom>
          <a:noFill/>
          <a:ln/>
        </p:spPr>
        <p:txBody>
          <a:bodyPr wrap="square" rtlCol="0" anchor="ctr"/>
          <a:lstStyle/>
          <a:p>
            <a:pPr marL="0" indent="0">
              <a:buNone/>
            </a:pPr>
            <a:r>
              <a:rPr lang="en-US" sz="1050" i="1" dirty="0">
                <a:solidFill>
                  <a:srgbClr val="FFB703"/>
                </a:solidFill>
                <a:latin typeface="Consolas" pitchFamily="34" charset="0"/>
                <a:ea typeface="Consolas" pitchFamily="34" charset="-122"/>
                <a:cs typeface="Consolas" pitchFamily="34" charset="-120"/>
              </a:rPr>
              <a:t>SLpM + Str_Acc</a:t>
            </a:r>
            <a:endParaRPr lang="en-US" sz="1050" dirty="0"/>
          </a:p>
        </p:txBody>
      </p:sp>
      <p:sp>
        <p:nvSpPr>
          <p:cNvPr id="25" name="Text 23"/>
          <p:cNvSpPr/>
          <p:nvPr/>
        </p:nvSpPr>
        <p:spPr>
          <a:xfrm>
            <a:off x="6309360" y="3300984"/>
            <a:ext cx="5303520" cy="5943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Blends output rate (strikes landed per minute) with precision. Measures not just how much a fighter throws, but how many of those strikes actually land.</a:t>
            </a:r>
            <a:endParaRPr lang="en-US" sz="1050" dirty="0"/>
          </a:p>
        </p:txBody>
      </p:sp>
      <p:sp>
        <p:nvSpPr>
          <p:cNvPr id="26" name="Text 24"/>
          <p:cNvSpPr/>
          <p:nvPr/>
        </p:nvSpPr>
        <p:spPr>
          <a:xfrm>
            <a:off x="6309360" y="3941064"/>
            <a:ext cx="5303520" cy="256032"/>
          </a:xfrm>
          <a:prstGeom prst="rect">
            <a:avLst/>
          </a:prstGeom>
          <a:noFill/>
          <a:ln/>
        </p:spPr>
        <p:txBody>
          <a:bodyPr wrap="square" rtlCol="0" anchor="ctr"/>
          <a:lstStyle/>
          <a:p>
            <a:pPr marL="0" indent="0">
              <a:buNone/>
            </a:pPr>
            <a:r>
              <a:rPr lang="en-US" sz="1150" b="1" dirty="0">
                <a:solidFill>
                  <a:srgbClr val="FFB703"/>
                </a:solidFill>
                <a:latin typeface="Calibri" pitchFamily="34" charset="0"/>
                <a:ea typeface="Calibri" pitchFamily="34" charset="-122"/>
                <a:cs typeface="Calibri" pitchFamily="34" charset="-120"/>
              </a:rPr>
              <a:t>Grappling_Striking_Ratio</a:t>
            </a:r>
            <a:endParaRPr lang="en-US" sz="1150" dirty="0"/>
          </a:p>
        </p:txBody>
      </p:sp>
      <p:sp>
        <p:nvSpPr>
          <p:cNvPr id="27" name="Text 25"/>
          <p:cNvSpPr/>
          <p:nvPr/>
        </p:nvSpPr>
        <p:spPr>
          <a:xfrm>
            <a:off x="6309360" y="4215384"/>
            <a:ext cx="5303520" cy="228600"/>
          </a:xfrm>
          <a:prstGeom prst="rect">
            <a:avLst/>
          </a:prstGeom>
          <a:noFill/>
          <a:ln/>
        </p:spPr>
        <p:txBody>
          <a:bodyPr wrap="square" rtlCol="0" anchor="ctr"/>
          <a:lstStyle/>
          <a:p>
            <a:pPr marL="0" indent="0">
              <a:buNone/>
            </a:pPr>
            <a:r>
              <a:rPr lang="en-US" sz="1050" i="1" dirty="0">
                <a:solidFill>
                  <a:srgbClr val="FFB703"/>
                </a:solidFill>
                <a:latin typeface="Consolas" pitchFamily="34" charset="0"/>
                <a:ea typeface="Consolas" pitchFamily="34" charset="-122"/>
                <a:cs typeface="Consolas" pitchFamily="34" charset="-120"/>
              </a:rPr>
              <a:t>Grappling_Score / Striking_Score</a:t>
            </a:r>
            <a:endParaRPr lang="en-US" sz="1050" dirty="0"/>
          </a:p>
        </p:txBody>
      </p:sp>
      <p:sp>
        <p:nvSpPr>
          <p:cNvPr id="28" name="Text 26"/>
          <p:cNvSpPr/>
          <p:nvPr/>
        </p:nvSpPr>
        <p:spPr>
          <a:xfrm>
            <a:off x="6309360" y="4471416"/>
            <a:ext cx="5303520" cy="5943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 single number capturing a fighter's stylistic bias — above 1 means grappling-dominant, below 1 means striking-dominant. Used as a feature for style segmentation.</a:t>
            </a:r>
            <a:endParaRPr lang="en-US" sz="1050" dirty="0"/>
          </a:p>
        </p:txBody>
      </p:sp>
      <p:sp>
        <p:nvSpPr>
          <p:cNvPr id="29" name="Text 27"/>
          <p:cNvSpPr/>
          <p:nvPr/>
        </p:nvSpPr>
        <p:spPr>
          <a:xfrm>
            <a:off x="6309360" y="5111496"/>
            <a:ext cx="5303520" cy="256032"/>
          </a:xfrm>
          <a:prstGeom prst="rect">
            <a:avLst/>
          </a:prstGeom>
          <a:noFill/>
          <a:ln/>
        </p:spPr>
        <p:txBody>
          <a:bodyPr wrap="square" rtlCol="0" anchor="ctr"/>
          <a:lstStyle/>
          <a:p>
            <a:pPr marL="0" indent="0">
              <a:buNone/>
            </a:pPr>
            <a:r>
              <a:rPr lang="en-US" sz="1150" b="1" dirty="0">
                <a:solidFill>
                  <a:srgbClr val="00B4D8"/>
                </a:solidFill>
                <a:latin typeface="Calibri" pitchFamily="34" charset="0"/>
                <a:ea typeface="Calibri" pitchFamily="34" charset="-122"/>
                <a:cs typeface="Calibri" pitchFamily="34" charset="-120"/>
              </a:rPr>
              <a:t>Experience_Level</a:t>
            </a:r>
            <a:endParaRPr lang="en-US" sz="1150" dirty="0"/>
          </a:p>
        </p:txBody>
      </p:sp>
      <p:sp>
        <p:nvSpPr>
          <p:cNvPr id="30" name="Text 28"/>
          <p:cNvSpPr/>
          <p:nvPr/>
        </p:nvSpPr>
        <p:spPr>
          <a:xfrm>
            <a:off x="6309360" y="5385816"/>
            <a:ext cx="5303520" cy="228600"/>
          </a:xfrm>
          <a:prstGeom prst="rect">
            <a:avLst/>
          </a:prstGeom>
          <a:noFill/>
          <a:ln/>
        </p:spPr>
        <p:txBody>
          <a:bodyPr wrap="square" rtlCol="0" anchor="ctr"/>
          <a:lstStyle/>
          <a:p>
            <a:pPr marL="0" indent="0">
              <a:buNone/>
            </a:pPr>
            <a:r>
              <a:rPr lang="en-US" sz="1050" i="1" dirty="0">
                <a:solidFill>
                  <a:srgbClr val="FFB703"/>
                </a:solidFill>
                <a:latin typeface="Consolas" pitchFamily="34" charset="0"/>
                <a:ea typeface="Consolas" pitchFamily="34" charset="-122"/>
                <a:cs typeface="Consolas" pitchFamily="34" charset="-120"/>
              </a:rPr>
              <a:t>fights &gt; 10  →  Veteran</a:t>
            </a:r>
            <a:endParaRPr lang="en-US" sz="1050" dirty="0"/>
          </a:p>
        </p:txBody>
      </p:sp>
      <p:sp>
        <p:nvSpPr>
          <p:cNvPr id="31" name="Text 29"/>
          <p:cNvSpPr/>
          <p:nvPr/>
        </p:nvSpPr>
        <p:spPr>
          <a:xfrm>
            <a:off x="6309360" y="5641848"/>
            <a:ext cx="5303520" cy="5943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ML target variable. Transforms fight-level records into a career-level binary label. Statistically validated: Veterans and Prospects differ significantly in both grappling (p=0.0001) and striking metrics (p&lt;0.0001).</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EDA — DISTRIBUTION PLOTS</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4 / 19</a:t>
            </a:r>
            <a:endParaRPr lang="en-US" sz="1000" dirty="0"/>
          </a:p>
        </p:txBody>
      </p:sp>
      <p:pic>
        <p:nvPicPr>
          <p:cNvPr id="6" name="Image 0" descr="preencoded.png"/>
          <p:cNvPicPr>
            <a:picLocks noChangeAspect="1"/>
          </p:cNvPicPr>
          <p:nvPr/>
        </p:nvPicPr>
        <p:blipFill>
          <a:blip r:embed="rId3"/>
          <a:stretch>
            <a:fillRect/>
          </a:stretch>
        </p:blipFill>
        <p:spPr>
          <a:xfrm>
            <a:off x="365760" y="960120"/>
            <a:ext cx="7863840" cy="2651760"/>
          </a:xfrm>
          <a:prstGeom prst="rect">
            <a:avLst/>
          </a:prstGeom>
        </p:spPr>
      </p:pic>
      <p:sp>
        <p:nvSpPr>
          <p:cNvPr id="7" name="Text 4"/>
          <p:cNvSpPr/>
          <p:nvPr/>
        </p:nvSpPr>
        <p:spPr>
          <a:xfrm>
            <a:off x="365760" y="3657600"/>
            <a:ext cx="786384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1: Distribution of Takedown Accuracy (left) and Striking Accuracy (right)</a:t>
            </a:r>
            <a:endParaRPr lang="en-US" sz="850" dirty="0"/>
          </a:p>
        </p:txBody>
      </p:sp>
      <p:sp>
        <p:nvSpPr>
          <p:cNvPr id="8" name="Shape 5"/>
          <p:cNvSpPr/>
          <p:nvPr/>
        </p:nvSpPr>
        <p:spPr>
          <a:xfrm>
            <a:off x="8503920" y="960120"/>
            <a:ext cx="3337560" cy="1645920"/>
          </a:xfrm>
          <a:prstGeom prst="rect">
            <a:avLst/>
          </a:prstGeom>
          <a:solidFill>
            <a:srgbClr val="1A1A2E"/>
          </a:solidFill>
          <a:ln/>
        </p:spPr>
        <p:txBody>
          <a:bodyPr/>
          <a:lstStyle/>
          <a:p>
            <a:endParaRPr lang="tr-TR"/>
          </a:p>
        </p:txBody>
      </p:sp>
      <p:sp>
        <p:nvSpPr>
          <p:cNvPr id="9" name="Shape 6"/>
          <p:cNvSpPr/>
          <p:nvPr/>
        </p:nvSpPr>
        <p:spPr>
          <a:xfrm>
            <a:off x="8503920" y="960120"/>
            <a:ext cx="54864" cy="1645920"/>
          </a:xfrm>
          <a:prstGeom prst="rect">
            <a:avLst/>
          </a:prstGeom>
          <a:solidFill>
            <a:srgbClr val="00B4D8"/>
          </a:solidFill>
          <a:ln/>
        </p:spPr>
        <p:txBody>
          <a:bodyPr/>
          <a:lstStyle/>
          <a:p>
            <a:endParaRPr lang="tr-TR"/>
          </a:p>
        </p:txBody>
      </p:sp>
      <p:sp>
        <p:nvSpPr>
          <p:cNvPr id="10" name="Text 7"/>
          <p:cNvSpPr/>
          <p:nvPr/>
        </p:nvSpPr>
        <p:spPr>
          <a:xfrm>
            <a:off x="8732520" y="1078992"/>
            <a:ext cx="2926080" cy="274320"/>
          </a:xfrm>
          <a:prstGeom prst="rect">
            <a:avLst/>
          </a:prstGeom>
          <a:noFill/>
          <a:ln/>
        </p:spPr>
        <p:txBody>
          <a:bodyPr wrap="square"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Takedown Accuracy</a:t>
            </a:r>
            <a:endParaRPr lang="en-US" sz="1200" dirty="0"/>
          </a:p>
        </p:txBody>
      </p:sp>
      <p:sp>
        <p:nvSpPr>
          <p:cNvPr id="11" name="Text 8"/>
          <p:cNvSpPr/>
          <p:nvPr/>
        </p:nvSpPr>
        <p:spPr>
          <a:xfrm>
            <a:off x="8732520" y="1389888"/>
            <a:ext cx="2926080" cy="10972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Heavily right-skewed with a large spike at zero. Many fighters attempt very few or no takedowns at all — the median sits around 0.25. This skewness rules out any normal-distribution assumption and directly motivated using the median as the threshold in the hypothesis test.</a:t>
            </a:r>
            <a:endParaRPr lang="en-US" sz="1050" dirty="0"/>
          </a:p>
        </p:txBody>
      </p:sp>
      <p:sp>
        <p:nvSpPr>
          <p:cNvPr id="12" name="Shape 9"/>
          <p:cNvSpPr/>
          <p:nvPr/>
        </p:nvSpPr>
        <p:spPr>
          <a:xfrm>
            <a:off x="8503920" y="2743200"/>
            <a:ext cx="3337560" cy="1645920"/>
          </a:xfrm>
          <a:prstGeom prst="rect">
            <a:avLst/>
          </a:prstGeom>
          <a:solidFill>
            <a:srgbClr val="1A1A2E"/>
          </a:solidFill>
          <a:ln/>
        </p:spPr>
        <p:txBody>
          <a:bodyPr/>
          <a:lstStyle/>
          <a:p>
            <a:endParaRPr lang="tr-TR"/>
          </a:p>
        </p:txBody>
      </p:sp>
      <p:sp>
        <p:nvSpPr>
          <p:cNvPr id="13" name="Shape 10"/>
          <p:cNvSpPr/>
          <p:nvPr/>
        </p:nvSpPr>
        <p:spPr>
          <a:xfrm>
            <a:off x="8503920" y="2743200"/>
            <a:ext cx="54864" cy="1645920"/>
          </a:xfrm>
          <a:prstGeom prst="rect">
            <a:avLst/>
          </a:prstGeom>
          <a:solidFill>
            <a:srgbClr val="E63946"/>
          </a:solidFill>
          <a:ln/>
        </p:spPr>
        <p:txBody>
          <a:bodyPr/>
          <a:lstStyle/>
          <a:p>
            <a:endParaRPr lang="tr-TR"/>
          </a:p>
        </p:txBody>
      </p:sp>
      <p:sp>
        <p:nvSpPr>
          <p:cNvPr id="14" name="Text 11"/>
          <p:cNvSpPr/>
          <p:nvPr/>
        </p:nvSpPr>
        <p:spPr>
          <a:xfrm>
            <a:off x="8732520" y="2862072"/>
            <a:ext cx="29260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Striking Accuracy</a:t>
            </a:r>
            <a:endParaRPr lang="en-US" sz="1200" dirty="0"/>
          </a:p>
        </p:txBody>
      </p:sp>
      <p:sp>
        <p:nvSpPr>
          <p:cNvPr id="15" name="Text 12"/>
          <p:cNvSpPr/>
          <p:nvPr/>
        </p:nvSpPr>
        <p:spPr>
          <a:xfrm>
            <a:off x="8732520" y="3172968"/>
            <a:ext cx="2926080" cy="10972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Unlike takedown accuracy, striking follows a clean bell-shaped distribution centred around 40–45%. Most fighters, regardless of style or era, operate within a predictable striking efficiency range.</a:t>
            </a:r>
            <a:endParaRPr lang="en-US" sz="1050" dirty="0"/>
          </a:p>
        </p:txBody>
      </p:sp>
      <p:sp>
        <p:nvSpPr>
          <p:cNvPr id="16" name="Shape 13"/>
          <p:cNvSpPr/>
          <p:nvPr/>
        </p:nvSpPr>
        <p:spPr>
          <a:xfrm>
            <a:off x="365760" y="4507992"/>
            <a:ext cx="11612880" cy="2029968"/>
          </a:xfrm>
          <a:prstGeom prst="rect">
            <a:avLst/>
          </a:prstGeom>
          <a:solidFill>
            <a:srgbClr val="1A1A2E"/>
          </a:solidFill>
          <a:ln/>
        </p:spPr>
        <p:txBody>
          <a:bodyPr/>
          <a:lstStyle/>
          <a:p>
            <a:endParaRPr lang="tr-TR"/>
          </a:p>
        </p:txBody>
      </p:sp>
      <p:sp>
        <p:nvSpPr>
          <p:cNvPr id="17" name="Shape 14"/>
          <p:cNvSpPr/>
          <p:nvPr/>
        </p:nvSpPr>
        <p:spPr>
          <a:xfrm>
            <a:off x="365760" y="4618652"/>
            <a:ext cx="54864" cy="1919307"/>
          </a:xfrm>
          <a:prstGeom prst="rect">
            <a:avLst/>
          </a:prstGeom>
          <a:solidFill>
            <a:srgbClr val="FFB703"/>
          </a:solidFill>
          <a:ln/>
        </p:spPr>
        <p:txBody>
          <a:bodyPr/>
          <a:lstStyle/>
          <a:p>
            <a:endParaRPr lang="tr-TR"/>
          </a:p>
        </p:txBody>
      </p:sp>
      <p:sp>
        <p:nvSpPr>
          <p:cNvPr id="18" name="Text 15"/>
          <p:cNvSpPr/>
          <p:nvPr/>
        </p:nvSpPr>
        <p:spPr>
          <a:xfrm>
            <a:off x="533400" y="4618652"/>
            <a:ext cx="1106424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Key Implication</a:t>
            </a:r>
            <a:endParaRPr lang="en-US" sz="1300" dirty="0"/>
          </a:p>
        </p:txBody>
      </p:sp>
      <p:sp>
        <p:nvSpPr>
          <p:cNvPr id="19" name="Text 16"/>
          <p:cNvSpPr/>
          <p:nvPr/>
        </p:nvSpPr>
        <p:spPr>
          <a:xfrm>
            <a:off x="594360" y="4498848"/>
            <a:ext cx="11064240" cy="17373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These two distributions are shaped completely differently — one is skewed with a zero-spike, the other is symmetric and bell-shaped. That contrast is not just visual: it means grappling and striking metrics capture fundamentally different dimensions of fighter performance. Analysing them with the same statistical assumptions would produce misleading results. This is why the project treats them separately in hypothesis testing and why two separate composite scores were engineered rather than combining everything into one feature.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EDA — SCATTER PLOT: STRIKING vs. TAKEDOWN ACCURACY</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5 / 19</a:t>
            </a:r>
            <a:endParaRPr lang="en-US" sz="1000" dirty="0"/>
          </a:p>
        </p:txBody>
      </p:sp>
      <p:pic>
        <p:nvPicPr>
          <p:cNvPr id="6" name="Image 0" descr="preencoded.png"/>
          <p:cNvPicPr>
            <a:picLocks noChangeAspect="1"/>
          </p:cNvPicPr>
          <p:nvPr/>
        </p:nvPicPr>
        <p:blipFill>
          <a:blip r:embed="rId3"/>
          <a:stretch>
            <a:fillRect/>
          </a:stretch>
        </p:blipFill>
        <p:spPr>
          <a:xfrm>
            <a:off x="365760" y="960120"/>
            <a:ext cx="6949440" cy="5212080"/>
          </a:xfrm>
          <a:prstGeom prst="rect">
            <a:avLst/>
          </a:prstGeom>
        </p:spPr>
      </p:pic>
      <p:sp>
        <p:nvSpPr>
          <p:cNvPr id="7" name="Text 4"/>
          <p:cNvSpPr/>
          <p:nvPr/>
        </p:nvSpPr>
        <p:spPr>
          <a:xfrm>
            <a:off x="365760" y="6217920"/>
            <a:ext cx="694944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2: Striking Accuracy vs. Takedown Accuracy colored by Winner (Red / Blue / Draw)</a:t>
            </a:r>
            <a:endParaRPr lang="en-US" sz="850" dirty="0"/>
          </a:p>
        </p:txBody>
      </p:sp>
      <p:sp>
        <p:nvSpPr>
          <p:cNvPr id="8" name="Shape 5"/>
          <p:cNvSpPr/>
          <p:nvPr/>
        </p:nvSpPr>
        <p:spPr>
          <a:xfrm>
            <a:off x="7543800" y="960120"/>
            <a:ext cx="4297680" cy="5623560"/>
          </a:xfrm>
          <a:prstGeom prst="rect">
            <a:avLst/>
          </a:prstGeom>
          <a:solidFill>
            <a:srgbClr val="1A1A2E"/>
          </a:solidFill>
          <a:ln/>
        </p:spPr>
        <p:txBody>
          <a:bodyPr/>
          <a:lstStyle/>
          <a:p>
            <a:endParaRPr lang="tr-TR"/>
          </a:p>
        </p:txBody>
      </p:sp>
      <p:sp>
        <p:nvSpPr>
          <p:cNvPr id="9" name="Shape 6"/>
          <p:cNvSpPr/>
          <p:nvPr/>
        </p:nvSpPr>
        <p:spPr>
          <a:xfrm>
            <a:off x="7543800" y="960120"/>
            <a:ext cx="54864" cy="5623560"/>
          </a:xfrm>
          <a:prstGeom prst="rect">
            <a:avLst/>
          </a:prstGeom>
          <a:solidFill>
            <a:srgbClr val="00B4D8"/>
          </a:solidFill>
          <a:ln/>
        </p:spPr>
        <p:txBody>
          <a:bodyPr/>
          <a:lstStyle/>
          <a:p>
            <a:endParaRPr lang="tr-TR"/>
          </a:p>
        </p:txBody>
      </p:sp>
      <p:sp>
        <p:nvSpPr>
          <p:cNvPr id="10" name="Text 7"/>
          <p:cNvSpPr/>
          <p:nvPr/>
        </p:nvSpPr>
        <p:spPr>
          <a:xfrm>
            <a:off x="7772400" y="1097280"/>
            <a:ext cx="388620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What This Plot Shows</a:t>
            </a:r>
            <a:endParaRPr lang="en-US" sz="1300" dirty="0"/>
          </a:p>
        </p:txBody>
      </p:sp>
      <p:sp>
        <p:nvSpPr>
          <p:cNvPr id="11" name="Text 8"/>
          <p:cNvSpPr/>
          <p:nvPr/>
        </p:nvSpPr>
        <p:spPr>
          <a:xfrm>
            <a:off x="7772400" y="1463040"/>
            <a:ext cx="3886200" cy="10058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Each dot represents a fighter in a single bout. The x-axis is striking accuracy, the y-axis is takedown accuracy. Dots are coloured by which corner won — Red, Blue, or Draw.</a:t>
            </a:r>
            <a:endParaRPr lang="en-US" sz="1200" dirty="0"/>
          </a:p>
        </p:txBody>
      </p:sp>
      <p:sp>
        <p:nvSpPr>
          <p:cNvPr id="12" name="Text 9"/>
          <p:cNvSpPr/>
          <p:nvPr/>
        </p:nvSpPr>
        <p:spPr>
          <a:xfrm>
            <a:off x="7772400" y="2606040"/>
            <a:ext cx="388620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The Key Observation</a:t>
            </a:r>
            <a:endParaRPr lang="en-US" sz="1300" dirty="0"/>
          </a:p>
        </p:txBody>
      </p:sp>
      <p:sp>
        <p:nvSpPr>
          <p:cNvPr id="13" name="Text 10"/>
          <p:cNvSpPr/>
          <p:nvPr/>
        </p:nvSpPr>
        <p:spPr>
          <a:xfrm>
            <a:off x="7772400" y="2971800"/>
            <a:ext cx="3886200" cy="12344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three colour groups overlap almost entirely across the full range of the plot. There is no region that belongs exclusively to one type of winner. You cannot draw a line — or any boundary — that cleanly separates Red wins from Blue wins.</a:t>
            </a:r>
            <a:endParaRPr lang="en-US" sz="1200" dirty="0"/>
          </a:p>
        </p:txBody>
      </p:sp>
      <p:sp>
        <p:nvSpPr>
          <p:cNvPr id="14" name="Text 11"/>
          <p:cNvSpPr/>
          <p:nvPr/>
        </p:nvSpPr>
        <p:spPr>
          <a:xfrm>
            <a:off x="7772400" y="4343400"/>
            <a:ext cx="388620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What This Means</a:t>
            </a:r>
            <a:endParaRPr lang="en-US" sz="1300" dirty="0"/>
          </a:p>
        </p:txBody>
      </p:sp>
      <p:sp>
        <p:nvSpPr>
          <p:cNvPr id="15" name="Text 12"/>
          <p:cNvSpPr/>
          <p:nvPr/>
        </p:nvSpPr>
        <p:spPr>
          <a:xfrm>
            <a:off x="7772400" y="4709160"/>
            <a:ext cx="3886200" cy="12344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simple accuracy threshold — grappling or striking — cannot predict fight outcomes. This visual evidence directly motivates the full machine learning approach: a multi-feature model is required to extract meaningful signal.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EDA — BOX PLOT: TAKEDOWN ACCURACY BY WINNER</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6 / 19</a:t>
            </a:r>
            <a:endParaRPr lang="en-US" sz="1000" dirty="0"/>
          </a:p>
        </p:txBody>
      </p:sp>
      <p:pic>
        <p:nvPicPr>
          <p:cNvPr id="6" name="Image 0" descr="preencoded.png"/>
          <p:cNvPicPr>
            <a:picLocks noChangeAspect="1"/>
          </p:cNvPicPr>
          <p:nvPr/>
        </p:nvPicPr>
        <p:blipFill>
          <a:blip r:embed="rId3"/>
          <a:stretch>
            <a:fillRect/>
          </a:stretch>
        </p:blipFill>
        <p:spPr>
          <a:xfrm>
            <a:off x="365760" y="960120"/>
            <a:ext cx="6949440" cy="4754880"/>
          </a:xfrm>
          <a:prstGeom prst="rect">
            <a:avLst/>
          </a:prstGeom>
        </p:spPr>
      </p:pic>
      <p:sp>
        <p:nvSpPr>
          <p:cNvPr id="7" name="Text 4"/>
          <p:cNvSpPr/>
          <p:nvPr/>
        </p:nvSpPr>
        <p:spPr>
          <a:xfrm>
            <a:off x="365760" y="5760720"/>
            <a:ext cx="694944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4: Takedown Accuracy Comparison by Winning Corner (Red / Blue / Draw)</a:t>
            </a:r>
            <a:endParaRPr lang="en-US" sz="850" dirty="0"/>
          </a:p>
        </p:txBody>
      </p:sp>
      <p:sp>
        <p:nvSpPr>
          <p:cNvPr id="8" name="Shape 5"/>
          <p:cNvSpPr/>
          <p:nvPr/>
        </p:nvSpPr>
        <p:spPr>
          <a:xfrm>
            <a:off x="7543800" y="960120"/>
            <a:ext cx="4297680" cy="5303520"/>
          </a:xfrm>
          <a:prstGeom prst="rect">
            <a:avLst/>
          </a:prstGeom>
          <a:solidFill>
            <a:srgbClr val="1A1A2E"/>
          </a:solidFill>
          <a:ln/>
        </p:spPr>
        <p:txBody>
          <a:bodyPr/>
          <a:lstStyle/>
          <a:p>
            <a:endParaRPr lang="tr-TR"/>
          </a:p>
        </p:txBody>
      </p:sp>
      <p:sp>
        <p:nvSpPr>
          <p:cNvPr id="9" name="Shape 6"/>
          <p:cNvSpPr/>
          <p:nvPr/>
        </p:nvSpPr>
        <p:spPr>
          <a:xfrm>
            <a:off x="7543800" y="960120"/>
            <a:ext cx="54864" cy="5303520"/>
          </a:xfrm>
          <a:prstGeom prst="rect">
            <a:avLst/>
          </a:prstGeom>
          <a:solidFill>
            <a:srgbClr val="E63946"/>
          </a:solidFill>
          <a:ln/>
        </p:spPr>
        <p:txBody>
          <a:bodyPr/>
          <a:lstStyle/>
          <a:p>
            <a:endParaRPr lang="tr-TR"/>
          </a:p>
        </p:txBody>
      </p:sp>
      <p:sp>
        <p:nvSpPr>
          <p:cNvPr id="10" name="Text 7"/>
          <p:cNvSpPr/>
          <p:nvPr/>
        </p:nvSpPr>
        <p:spPr>
          <a:xfrm>
            <a:off x="7772400" y="1097280"/>
            <a:ext cx="388620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What This Plot Shows</a:t>
            </a:r>
            <a:endParaRPr lang="en-US" sz="1300" dirty="0"/>
          </a:p>
        </p:txBody>
      </p:sp>
      <p:sp>
        <p:nvSpPr>
          <p:cNvPr id="11" name="Text 8"/>
          <p:cNvSpPr/>
          <p:nvPr/>
        </p:nvSpPr>
        <p:spPr>
          <a:xfrm>
            <a:off x="7772400" y="1463040"/>
            <a:ext cx="3886200" cy="822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Three side-by-side box plots comparing the distribution of takedown accuracy for each winning outcome: Red corner wins, Blue corner wins, and Draws.</a:t>
            </a:r>
            <a:endParaRPr lang="en-US" sz="1200" dirty="0"/>
          </a:p>
        </p:txBody>
      </p:sp>
      <p:sp>
        <p:nvSpPr>
          <p:cNvPr id="12" name="Text 9"/>
          <p:cNvSpPr/>
          <p:nvPr/>
        </p:nvSpPr>
        <p:spPr>
          <a:xfrm>
            <a:off x="7772400" y="2423160"/>
            <a:ext cx="388620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The Key Observation</a:t>
            </a:r>
            <a:endParaRPr lang="en-US" sz="1300" dirty="0"/>
          </a:p>
        </p:txBody>
      </p:sp>
      <p:sp>
        <p:nvSpPr>
          <p:cNvPr id="13" name="Text 10"/>
          <p:cNvSpPr/>
          <p:nvPr/>
        </p:nvSpPr>
        <p:spPr>
          <a:xfrm>
            <a:off x="7772400" y="2788920"/>
            <a:ext cx="3886200" cy="11887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three groups share nearly identical medians — approximately 0.25 — and almost fully overlapping interquartile ranges. The whiskers extend to similar ranges as well. There is no meaningful statistical separation between the three groups.</a:t>
            </a:r>
            <a:endParaRPr lang="en-US" sz="1200" dirty="0"/>
          </a:p>
        </p:txBody>
      </p:sp>
      <p:sp>
        <p:nvSpPr>
          <p:cNvPr id="14" name="Text 11"/>
          <p:cNvSpPr/>
          <p:nvPr/>
        </p:nvSpPr>
        <p:spPr>
          <a:xfrm>
            <a:off x="7772400" y="4114800"/>
            <a:ext cx="388620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Why It Matters</a:t>
            </a:r>
            <a:endParaRPr lang="en-US" sz="1300" dirty="0"/>
          </a:p>
        </p:txBody>
      </p:sp>
      <p:sp>
        <p:nvSpPr>
          <p:cNvPr id="15" name="Text 12"/>
          <p:cNvSpPr/>
          <p:nvPr/>
        </p:nvSpPr>
        <p:spPr>
          <a:xfrm>
            <a:off x="7772400" y="4480560"/>
            <a:ext cx="3886200" cy="1554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This box plot is the visual pre-confirmation of the hypothesis test result. Before running any statistics, the data is already telling us: takedown accuracy alone does not differentiate winners from losers at the individual fight level. The formal t-test on the next slides will confirm this with numbers.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UFC CAREER FUNNEL — CLASS IMBALANCE</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7 / 19</a:t>
            </a:r>
            <a:endParaRPr lang="en-US" sz="1000" dirty="0"/>
          </a:p>
        </p:txBody>
      </p:sp>
      <p:pic>
        <p:nvPicPr>
          <p:cNvPr id="6" name="Image 0" descr="preencoded.png"/>
          <p:cNvPicPr>
            <a:picLocks noChangeAspect="1"/>
          </p:cNvPicPr>
          <p:nvPr/>
        </p:nvPicPr>
        <p:blipFill>
          <a:blip r:embed="rId3"/>
          <a:stretch>
            <a:fillRect/>
          </a:stretch>
        </p:blipFill>
        <p:spPr>
          <a:xfrm>
            <a:off x="365760" y="960120"/>
            <a:ext cx="5943600" cy="4663440"/>
          </a:xfrm>
          <a:prstGeom prst="rect">
            <a:avLst/>
          </a:prstGeom>
        </p:spPr>
      </p:pic>
      <p:sp>
        <p:nvSpPr>
          <p:cNvPr id="7" name="Text 4"/>
          <p:cNvSpPr/>
          <p:nvPr/>
        </p:nvSpPr>
        <p:spPr>
          <a:xfrm>
            <a:off x="365760" y="5669280"/>
            <a:ext cx="594360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3: Count of Veteran vs. Prospect Fighters (Enriched Data)</a:t>
            </a:r>
            <a:endParaRPr lang="en-US" sz="850" dirty="0"/>
          </a:p>
        </p:txBody>
      </p:sp>
      <p:sp>
        <p:nvSpPr>
          <p:cNvPr id="8" name="Shape 5"/>
          <p:cNvSpPr/>
          <p:nvPr/>
        </p:nvSpPr>
        <p:spPr>
          <a:xfrm>
            <a:off x="6537960" y="960120"/>
            <a:ext cx="5303520" cy="5394960"/>
          </a:xfrm>
          <a:prstGeom prst="rect">
            <a:avLst/>
          </a:prstGeom>
          <a:solidFill>
            <a:srgbClr val="1A1A2E"/>
          </a:solidFill>
          <a:ln/>
        </p:spPr>
        <p:txBody>
          <a:bodyPr/>
          <a:lstStyle/>
          <a:p>
            <a:endParaRPr lang="tr-TR" dirty="0"/>
          </a:p>
        </p:txBody>
      </p:sp>
      <p:sp>
        <p:nvSpPr>
          <p:cNvPr id="9" name="Shape 6"/>
          <p:cNvSpPr/>
          <p:nvPr/>
        </p:nvSpPr>
        <p:spPr>
          <a:xfrm>
            <a:off x="6537960" y="960120"/>
            <a:ext cx="54864" cy="5394960"/>
          </a:xfrm>
          <a:prstGeom prst="rect">
            <a:avLst/>
          </a:prstGeom>
          <a:solidFill>
            <a:srgbClr val="FFB703"/>
          </a:solidFill>
          <a:ln/>
        </p:spPr>
        <p:txBody>
          <a:bodyPr/>
          <a:lstStyle/>
          <a:p>
            <a:endParaRPr lang="tr-TR"/>
          </a:p>
        </p:txBody>
      </p:sp>
      <p:sp>
        <p:nvSpPr>
          <p:cNvPr id="10" name="Text 7"/>
          <p:cNvSpPr/>
          <p:nvPr/>
        </p:nvSpPr>
        <p:spPr>
          <a:xfrm>
            <a:off x="6766560" y="1097280"/>
            <a:ext cx="4892040" cy="347472"/>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The 85/15 Split</a:t>
            </a:r>
            <a:r>
              <a:rPr lang="tr-TR" sz="1400" b="1" dirty="0">
                <a:solidFill>
                  <a:srgbClr val="FFB703"/>
                </a:solidFill>
                <a:latin typeface="Calibri" pitchFamily="34" charset="0"/>
                <a:ea typeface="Calibri" pitchFamily="34" charset="-122"/>
                <a:cs typeface="Calibri" pitchFamily="34" charset="-120"/>
              </a:rPr>
              <a:t> (</a:t>
            </a:r>
            <a:r>
              <a:rPr lang="tr-TR" sz="1400" b="1" dirty="0" err="1">
                <a:solidFill>
                  <a:srgbClr val="FFB703"/>
                </a:solidFill>
                <a:latin typeface="Calibri" pitchFamily="34" charset="0"/>
                <a:ea typeface="Calibri" pitchFamily="34" charset="-122"/>
                <a:cs typeface="Calibri" pitchFamily="34" charset="-120"/>
              </a:rPr>
              <a:t>nearly</a:t>
            </a:r>
            <a:r>
              <a:rPr lang="tr-TR" sz="1400" b="1" dirty="0">
                <a:solidFill>
                  <a:srgbClr val="FFB703"/>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6766560" y="1508760"/>
            <a:ext cx="4892040" cy="17373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bar chart confirms a severe class imbalance in the enriched dataset: 1,812 Prospects (84.7%) vs. 327 Veterans (15.3%). This lopsided distribution is not a data quality issue — it reflects the real-world structure of a UFC career. Most fighters compete for only a few bouts before leaving the promotion. Breaking through and staying active for more than 10 fights is genuinely rare.</a:t>
            </a:r>
            <a:endParaRPr lang="en-US" sz="1200" dirty="0"/>
          </a:p>
        </p:txBody>
      </p:sp>
      <p:sp>
        <p:nvSpPr>
          <p:cNvPr id="12" name="Text 9"/>
          <p:cNvSpPr/>
          <p:nvPr/>
        </p:nvSpPr>
        <p:spPr>
          <a:xfrm>
            <a:off x="6766560" y="3383280"/>
            <a:ext cx="489204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Why This Matters for Modelling</a:t>
            </a:r>
            <a:endParaRPr lang="en-US" sz="1300" dirty="0"/>
          </a:p>
        </p:txBody>
      </p:sp>
      <p:sp>
        <p:nvSpPr>
          <p:cNvPr id="13" name="Text 10"/>
          <p:cNvSpPr/>
          <p:nvPr/>
        </p:nvSpPr>
        <p:spPr>
          <a:xfrm>
            <a:off x="6766560" y="3749040"/>
            <a:ext cx="4892040" cy="15544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naive classifier trained on this data would achieve 84.7% accuracy simply by predicting every fighter as Prospect — without learning anything meaningful. To prevent this, class_weight='balanced' was applied to both ML classifiers. This forces the models to pay equal attention to both classes during training, ensuring Veterans are not ignored.</a:t>
            </a:r>
            <a:endParaRPr lang="en-US" sz="1200" dirty="0"/>
          </a:p>
        </p:txBody>
      </p:sp>
      <p:sp>
        <p:nvSpPr>
          <p:cNvPr id="14" name="Shape 11"/>
          <p:cNvSpPr/>
          <p:nvPr/>
        </p:nvSpPr>
        <p:spPr>
          <a:xfrm>
            <a:off x="6821424" y="5760720"/>
            <a:ext cx="5020056" cy="411480"/>
          </a:xfrm>
          <a:prstGeom prst="rect">
            <a:avLst/>
          </a:prstGeom>
          <a:solidFill>
            <a:srgbClr val="1A2F1A"/>
          </a:solidFill>
          <a:ln w="12700">
            <a:solidFill>
              <a:srgbClr val="4CAF50"/>
            </a:solidFill>
            <a:prstDash val="solid"/>
          </a:ln>
        </p:spPr>
        <p:txBody>
          <a:bodyPr/>
          <a:lstStyle/>
          <a:p>
            <a:endParaRPr lang="tr-TR"/>
          </a:p>
        </p:txBody>
      </p:sp>
      <p:sp>
        <p:nvSpPr>
          <p:cNvPr id="15" name="Text 12"/>
          <p:cNvSpPr/>
          <p:nvPr/>
        </p:nvSpPr>
        <p:spPr>
          <a:xfrm>
            <a:off x="6766560" y="5669280"/>
            <a:ext cx="5074920" cy="502920"/>
          </a:xfrm>
          <a:prstGeom prst="rect">
            <a:avLst/>
          </a:prstGeom>
          <a:noFill/>
          <a:ln/>
        </p:spPr>
        <p:txBody>
          <a:bodyPr wrap="square" rtlCol="0" anchor="ctr"/>
          <a:lstStyle/>
          <a:p>
            <a:pPr marL="0" indent="0" algn="ctr">
              <a:buNone/>
            </a:pPr>
            <a:r>
              <a:rPr lang="en-US" sz="1150" b="1" dirty="0">
                <a:solidFill>
                  <a:srgbClr val="4CAF50"/>
                </a:solidFill>
                <a:latin typeface="Calibri" pitchFamily="34" charset="0"/>
                <a:ea typeface="Calibri" pitchFamily="34" charset="-122"/>
                <a:cs typeface="Calibri" pitchFamily="34" charset="-120"/>
              </a:rPr>
              <a:t>Veterans: 327  •  Prospects: 1,812  •  Total analysed: 2,139 fighters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HYPOTHESIS TEST — SETUP</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8 / 19</a:t>
            </a:r>
            <a:endParaRPr lang="en-US" sz="1000" dirty="0"/>
          </a:p>
        </p:txBody>
      </p:sp>
      <p:sp>
        <p:nvSpPr>
          <p:cNvPr id="6" name="Shape 4"/>
          <p:cNvSpPr/>
          <p:nvPr/>
        </p:nvSpPr>
        <p:spPr>
          <a:xfrm>
            <a:off x="365760" y="1005840"/>
            <a:ext cx="5486400" cy="5394960"/>
          </a:xfrm>
          <a:prstGeom prst="rect">
            <a:avLst/>
          </a:prstGeom>
          <a:solidFill>
            <a:srgbClr val="1A1A2E"/>
          </a:solidFill>
          <a:ln/>
        </p:spPr>
        <p:txBody>
          <a:bodyPr/>
          <a:lstStyle/>
          <a:p>
            <a:endParaRPr lang="tr-TR"/>
          </a:p>
        </p:txBody>
      </p:sp>
      <p:sp>
        <p:nvSpPr>
          <p:cNvPr id="7" name="Shape 5"/>
          <p:cNvSpPr/>
          <p:nvPr/>
        </p:nvSpPr>
        <p:spPr>
          <a:xfrm>
            <a:off x="365760" y="1005840"/>
            <a:ext cx="54864" cy="5394960"/>
          </a:xfrm>
          <a:prstGeom prst="rect">
            <a:avLst/>
          </a:prstGeom>
          <a:solidFill>
            <a:srgbClr val="E63946"/>
          </a:solidFill>
          <a:ln/>
        </p:spPr>
        <p:txBody>
          <a:bodyPr/>
          <a:lstStyle/>
          <a:p>
            <a:endParaRPr lang="tr-TR"/>
          </a:p>
        </p:txBody>
      </p:sp>
      <p:sp>
        <p:nvSpPr>
          <p:cNvPr id="8" name="Text 6"/>
          <p:cNvSpPr/>
          <p:nvPr/>
        </p:nvSpPr>
        <p:spPr>
          <a:xfrm>
            <a:off x="594360" y="1143000"/>
            <a:ext cx="5074920" cy="347472"/>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The Research Question</a:t>
            </a:r>
            <a:endParaRPr lang="en-US" sz="1400" dirty="0"/>
          </a:p>
        </p:txBody>
      </p:sp>
      <p:sp>
        <p:nvSpPr>
          <p:cNvPr id="9" name="Text 7"/>
          <p:cNvSpPr/>
          <p:nvPr/>
        </p:nvSpPr>
        <p:spPr>
          <a:xfrm>
            <a:off x="594360" y="1554480"/>
            <a:ext cx="5074920" cy="201168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At the individual fight level, do fighters with above-median takedown accuracy win significantly more often than those with below-median takedown accuracy?</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This is the short-term dimension of the research question. The hypothesis test isolates grappling accuracy as a single variable to see whether it carries independent predictive power in any given fight.</a:t>
            </a:r>
            <a:endParaRPr lang="en-US" sz="1250" dirty="0"/>
          </a:p>
        </p:txBody>
      </p:sp>
      <p:sp>
        <p:nvSpPr>
          <p:cNvPr id="10" name="Text 8"/>
          <p:cNvSpPr/>
          <p:nvPr/>
        </p:nvSpPr>
        <p:spPr>
          <a:xfrm>
            <a:off x="594360" y="3703320"/>
            <a:ext cx="507492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Why the Median as the Threshold?</a:t>
            </a:r>
            <a:endParaRPr lang="en-US" sz="1300" dirty="0"/>
          </a:p>
        </p:txBody>
      </p:sp>
      <p:sp>
        <p:nvSpPr>
          <p:cNvPr id="11" name="Text 9"/>
          <p:cNvSpPr/>
          <p:nvPr/>
        </p:nvSpPr>
        <p:spPr>
          <a:xfrm>
            <a:off x="594360" y="4069080"/>
            <a:ext cx="5074920" cy="1691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distribution analysis in Slide 5 showed that takedown accuracy is heavily right-skewed. Using the mean as a threshold would be misleading — it would be pulled upward by a small number of elite grapplers. The median (0.25) is a more robust and fair dividing line that splits the fighter population into genuinely comparable halves.</a:t>
            </a:r>
            <a:endParaRPr lang="en-US" sz="1250" dirty="0"/>
          </a:p>
        </p:txBody>
      </p:sp>
      <p:sp>
        <p:nvSpPr>
          <p:cNvPr id="12" name="Shape 10"/>
          <p:cNvSpPr/>
          <p:nvPr/>
        </p:nvSpPr>
        <p:spPr>
          <a:xfrm>
            <a:off x="6080760" y="1005840"/>
            <a:ext cx="5715000" cy="5394960"/>
          </a:xfrm>
          <a:prstGeom prst="rect">
            <a:avLst/>
          </a:prstGeom>
          <a:solidFill>
            <a:srgbClr val="1A1A2E"/>
          </a:solidFill>
          <a:ln/>
        </p:spPr>
        <p:txBody>
          <a:bodyPr/>
          <a:lstStyle/>
          <a:p>
            <a:endParaRPr lang="tr-TR"/>
          </a:p>
        </p:txBody>
      </p:sp>
      <p:sp>
        <p:nvSpPr>
          <p:cNvPr id="13" name="Shape 11"/>
          <p:cNvSpPr/>
          <p:nvPr/>
        </p:nvSpPr>
        <p:spPr>
          <a:xfrm>
            <a:off x="6080760" y="1005840"/>
            <a:ext cx="54864" cy="5394960"/>
          </a:xfrm>
          <a:prstGeom prst="rect">
            <a:avLst/>
          </a:prstGeom>
          <a:solidFill>
            <a:srgbClr val="00B4D8"/>
          </a:solidFill>
          <a:ln/>
        </p:spPr>
        <p:txBody>
          <a:bodyPr/>
          <a:lstStyle/>
          <a:p>
            <a:endParaRPr lang="tr-TR"/>
          </a:p>
        </p:txBody>
      </p:sp>
      <p:sp>
        <p:nvSpPr>
          <p:cNvPr id="14" name="Text 12"/>
          <p:cNvSpPr/>
          <p:nvPr/>
        </p:nvSpPr>
        <p:spPr>
          <a:xfrm>
            <a:off x="6309360" y="1143000"/>
            <a:ext cx="530352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Formal Setup</a:t>
            </a:r>
            <a:endParaRPr lang="en-US" sz="1400" dirty="0"/>
          </a:p>
        </p:txBody>
      </p:sp>
      <p:sp>
        <p:nvSpPr>
          <p:cNvPr id="15" name="Text 13"/>
          <p:cNvSpPr/>
          <p:nvPr/>
        </p:nvSpPr>
        <p:spPr>
          <a:xfrm>
            <a:off x="6309360" y="1600200"/>
            <a:ext cx="530352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H₀ (Null Hypothesis)</a:t>
            </a:r>
            <a:endParaRPr lang="en-US" sz="1100" dirty="0"/>
          </a:p>
        </p:txBody>
      </p:sp>
      <p:sp>
        <p:nvSpPr>
          <p:cNvPr id="16" name="Text 14"/>
          <p:cNvSpPr/>
          <p:nvPr/>
        </p:nvSpPr>
        <p:spPr>
          <a:xfrm>
            <a:off x="6309360" y="1874520"/>
            <a:ext cx="5303520" cy="621792"/>
          </a:xfrm>
          <a:prstGeom prst="rect">
            <a:avLst/>
          </a:prstGeom>
          <a:noFill/>
          <a:ln/>
        </p:spPr>
        <p:txBody>
          <a:bodyPr wrap="square" rtlCol="0" anchor="ctr"/>
          <a:lstStyle/>
          <a:p>
            <a:pPr marL="0" indent="0">
              <a:buNone/>
            </a:pPr>
            <a:r>
              <a:rPr lang="en-US" sz="1100" dirty="0">
                <a:solidFill>
                  <a:srgbClr val="9BA4B5"/>
                </a:solidFill>
                <a:latin typeface="Calibri" pitchFamily="34" charset="0"/>
                <a:ea typeface="Calibri" pitchFamily="34" charset="-122"/>
                <a:cs typeface="Calibri" pitchFamily="34" charset="-120"/>
              </a:rPr>
              <a:t>No significant difference in win rate between fighters with above- and below-median takedown accuracy.</a:t>
            </a:r>
            <a:endParaRPr lang="en-US" sz="1100" dirty="0"/>
          </a:p>
        </p:txBody>
      </p:sp>
      <p:sp>
        <p:nvSpPr>
          <p:cNvPr id="17" name="Text 15"/>
          <p:cNvSpPr/>
          <p:nvPr/>
        </p:nvSpPr>
        <p:spPr>
          <a:xfrm>
            <a:off x="6309360" y="2532888"/>
            <a:ext cx="530352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H₁ (Alt. Hypothesis)</a:t>
            </a:r>
            <a:endParaRPr lang="en-US" sz="1100" dirty="0"/>
          </a:p>
        </p:txBody>
      </p:sp>
      <p:sp>
        <p:nvSpPr>
          <p:cNvPr id="18" name="Text 16"/>
          <p:cNvSpPr/>
          <p:nvPr/>
        </p:nvSpPr>
        <p:spPr>
          <a:xfrm>
            <a:off x="6309360" y="2807208"/>
            <a:ext cx="5303520" cy="62179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Fighters with above-median takedown accuracy have a significantly higher win rate.</a:t>
            </a:r>
            <a:endParaRPr lang="en-US" sz="1100" dirty="0"/>
          </a:p>
        </p:txBody>
      </p:sp>
      <p:sp>
        <p:nvSpPr>
          <p:cNvPr id="19" name="Text 17"/>
          <p:cNvSpPr/>
          <p:nvPr/>
        </p:nvSpPr>
        <p:spPr>
          <a:xfrm>
            <a:off x="6309360" y="3465576"/>
            <a:ext cx="530352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Significance Level (α)</a:t>
            </a:r>
            <a:endParaRPr lang="en-US" sz="1100" dirty="0"/>
          </a:p>
        </p:txBody>
      </p:sp>
      <p:sp>
        <p:nvSpPr>
          <p:cNvPr id="20" name="Text 18"/>
          <p:cNvSpPr/>
          <p:nvPr/>
        </p:nvSpPr>
        <p:spPr>
          <a:xfrm>
            <a:off x="6309360" y="3739896"/>
            <a:ext cx="5303520" cy="62179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0.05 — the standard threshold for statistical significance.</a:t>
            </a:r>
            <a:endParaRPr lang="en-US" sz="1100" dirty="0"/>
          </a:p>
        </p:txBody>
      </p:sp>
      <p:sp>
        <p:nvSpPr>
          <p:cNvPr id="21" name="Text 19"/>
          <p:cNvSpPr/>
          <p:nvPr/>
        </p:nvSpPr>
        <p:spPr>
          <a:xfrm>
            <a:off x="6309360" y="4398264"/>
            <a:ext cx="530352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Test Method</a:t>
            </a:r>
            <a:endParaRPr lang="en-US" sz="1100" dirty="0"/>
          </a:p>
        </p:txBody>
      </p:sp>
      <p:sp>
        <p:nvSpPr>
          <p:cNvPr id="22" name="Text 20"/>
          <p:cNvSpPr/>
          <p:nvPr/>
        </p:nvSpPr>
        <p:spPr>
          <a:xfrm>
            <a:off x="6309360" y="4672584"/>
            <a:ext cx="5303520" cy="62179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Independent samples t-test using scipy.stats.ttest_ind. The two groups are treated as independent populations.</a:t>
            </a:r>
            <a:endParaRPr lang="en-US" sz="1100" dirty="0"/>
          </a:p>
        </p:txBody>
      </p:sp>
      <p:sp>
        <p:nvSpPr>
          <p:cNvPr id="23" name="Text 21"/>
          <p:cNvSpPr/>
          <p:nvPr/>
        </p:nvSpPr>
        <p:spPr>
          <a:xfrm>
            <a:off x="6309360" y="5330952"/>
            <a:ext cx="530352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Split Threshold</a:t>
            </a:r>
            <a:endParaRPr lang="en-US" sz="1100" dirty="0"/>
          </a:p>
        </p:txBody>
      </p:sp>
      <p:sp>
        <p:nvSpPr>
          <p:cNvPr id="24" name="Text 22"/>
          <p:cNvSpPr/>
          <p:nvPr/>
        </p:nvSpPr>
        <p:spPr>
          <a:xfrm>
            <a:off x="6309360" y="5605272"/>
            <a:ext cx="5303520" cy="62179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Median takedown accuracy = 0.25. Fighters at or above this value form the 'high TD' group; all others form the 'low TD' group.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HYPOTHESIS TEST — RESULTS</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9 / 19</a:t>
            </a:r>
            <a:endParaRPr lang="en-US" sz="1000" dirty="0"/>
          </a:p>
        </p:txBody>
      </p:sp>
      <p:sp>
        <p:nvSpPr>
          <p:cNvPr id="6" name="Shape 4"/>
          <p:cNvSpPr/>
          <p:nvPr/>
        </p:nvSpPr>
        <p:spPr>
          <a:xfrm>
            <a:off x="365760" y="1097280"/>
            <a:ext cx="4114800" cy="3840480"/>
          </a:xfrm>
          <a:prstGeom prst="rect">
            <a:avLst/>
          </a:prstGeom>
          <a:solidFill>
            <a:srgbClr val="1A1A2E"/>
          </a:solidFill>
          <a:ln w="12700">
            <a:solidFill>
              <a:srgbClr val="E63946"/>
            </a:solidFill>
            <a:prstDash val="solid"/>
          </a:ln>
        </p:spPr>
        <p:txBody>
          <a:bodyPr/>
          <a:lstStyle/>
          <a:p>
            <a:endParaRPr lang="tr-TR"/>
          </a:p>
        </p:txBody>
      </p:sp>
      <p:sp>
        <p:nvSpPr>
          <p:cNvPr id="7" name="Text 5"/>
          <p:cNvSpPr/>
          <p:nvPr/>
        </p:nvSpPr>
        <p:spPr>
          <a:xfrm>
            <a:off x="365760" y="1371600"/>
            <a:ext cx="4114800" cy="1280160"/>
          </a:xfrm>
          <a:prstGeom prst="rect">
            <a:avLst/>
          </a:prstGeom>
          <a:noFill/>
          <a:ln/>
        </p:spPr>
        <p:txBody>
          <a:bodyPr wrap="square" rtlCol="0" anchor="ctr"/>
          <a:lstStyle/>
          <a:p>
            <a:pPr marL="0" indent="0" algn="ctr">
              <a:buNone/>
            </a:pPr>
            <a:r>
              <a:rPr lang="en-US" sz="4000" b="1" dirty="0">
                <a:solidFill>
                  <a:srgbClr val="E63946"/>
                </a:solidFill>
                <a:latin typeface="Arial Black" pitchFamily="34" charset="0"/>
                <a:ea typeface="Arial Black" pitchFamily="34" charset="-122"/>
                <a:cs typeface="Arial Black" pitchFamily="34" charset="-120"/>
              </a:rPr>
              <a:t>p = 0.6289</a:t>
            </a:r>
            <a:endParaRPr lang="en-US" sz="4000" dirty="0"/>
          </a:p>
        </p:txBody>
      </p:sp>
      <p:sp>
        <p:nvSpPr>
          <p:cNvPr id="8" name="Text 6"/>
          <p:cNvSpPr/>
          <p:nvPr/>
        </p:nvSpPr>
        <p:spPr>
          <a:xfrm>
            <a:off x="365760" y="2743200"/>
            <a:ext cx="4114800" cy="411480"/>
          </a:xfrm>
          <a:prstGeom prst="rect">
            <a:avLst/>
          </a:prstGeom>
          <a:noFill/>
          <a:ln/>
        </p:spPr>
        <p:txBody>
          <a:bodyPr wrap="square" rtlCol="0" anchor="ctr"/>
          <a:lstStyle/>
          <a:p>
            <a:pPr marL="0" indent="0" algn="ctr">
              <a:buNone/>
            </a:pPr>
            <a:r>
              <a:rPr lang="en-US" sz="1500" b="1" dirty="0">
                <a:solidFill>
                  <a:srgbClr val="9BA4B5"/>
                </a:solidFill>
                <a:latin typeface="Calibri" pitchFamily="34" charset="0"/>
                <a:ea typeface="Calibri" pitchFamily="34" charset="-122"/>
                <a:cs typeface="Calibri" pitchFamily="34" charset="-120"/>
              </a:rPr>
              <a:t>T-STATISTIC:  −0.4832</a:t>
            </a:r>
            <a:endParaRPr lang="en-US" sz="1500" dirty="0"/>
          </a:p>
        </p:txBody>
      </p:sp>
      <p:sp>
        <p:nvSpPr>
          <p:cNvPr id="9" name="Shape 7"/>
          <p:cNvSpPr/>
          <p:nvPr/>
        </p:nvSpPr>
        <p:spPr>
          <a:xfrm>
            <a:off x="594360" y="3291840"/>
            <a:ext cx="3657600" cy="502920"/>
          </a:xfrm>
          <a:prstGeom prst="rect">
            <a:avLst/>
          </a:prstGeom>
          <a:solidFill>
            <a:srgbClr val="2D0A0A"/>
          </a:solidFill>
          <a:ln w="12700">
            <a:solidFill>
              <a:srgbClr val="E63946"/>
            </a:solidFill>
            <a:prstDash val="solid"/>
          </a:ln>
        </p:spPr>
        <p:txBody>
          <a:bodyPr/>
          <a:lstStyle/>
          <a:p>
            <a:endParaRPr lang="tr-TR"/>
          </a:p>
        </p:txBody>
      </p:sp>
      <p:sp>
        <p:nvSpPr>
          <p:cNvPr id="10" name="Text 8"/>
          <p:cNvSpPr/>
          <p:nvPr/>
        </p:nvSpPr>
        <p:spPr>
          <a:xfrm>
            <a:off x="594360" y="3291840"/>
            <a:ext cx="3657600" cy="502920"/>
          </a:xfrm>
          <a:prstGeom prst="rect">
            <a:avLst/>
          </a:prstGeom>
          <a:noFill/>
          <a:ln/>
        </p:spPr>
        <p:txBody>
          <a:bodyPr wrap="square" rtlCol="0" anchor="ctr"/>
          <a:lstStyle/>
          <a:p>
            <a:pPr marL="0" indent="0" algn="ctr">
              <a:buNone/>
            </a:pPr>
            <a:r>
              <a:rPr lang="en-US" sz="1600" b="1" dirty="0">
                <a:solidFill>
                  <a:srgbClr val="E63946"/>
                </a:solidFill>
                <a:latin typeface="Arial Black" pitchFamily="34" charset="0"/>
                <a:ea typeface="Arial Black" pitchFamily="34" charset="-122"/>
                <a:cs typeface="Arial Black" pitchFamily="34" charset="-120"/>
              </a:rPr>
              <a:t>FAIL TO REJECT H₀</a:t>
            </a:r>
            <a:endParaRPr lang="en-US" sz="1600" dirty="0"/>
          </a:p>
        </p:txBody>
      </p:sp>
      <p:sp>
        <p:nvSpPr>
          <p:cNvPr id="11" name="Shape 9"/>
          <p:cNvSpPr/>
          <p:nvPr/>
        </p:nvSpPr>
        <p:spPr>
          <a:xfrm>
            <a:off x="4709160" y="1005840"/>
            <a:ext cx="7086600" cy="3840480"/>
          </a:xfrm>
          <a:prstGeom prst="rect">
            <a:avLst/>
          </a:prstGeom>
          <a:solidFill>
            <a:srgbClr val="1A1A2E"/>
          </a:solidFill>
          <a:ln/>
        </p:spPr>
        <p:txBody>
          <a:bodyPr/>
          <a:lstStyle/>
          <a:p>
            <a:endParaRPr lang="tr-TR"/>
          </a:p>
        </p:txBody>
      </p:sp>
      <p:sp>
        <p:nvSpPr>
          <p:cNvPr id="12" name="Shape 10"/>
          <p:cNvSpPr/>
          <p:nvPr/>
        </p:nvSpPr>
        <p:spPr>
          <a:xfrm>
            <a:off x="4709160" y="1005840"/>
            <a:ext cx="54864" cy="3840480"/>
          </a:xfrm>
          <a:prstGeom prst="rect">
            <a:avLst/>
          </a:prstGeom>
          <a:solidFill>
            <a:srgbClr val="FFB703"/>
          </a:solidFill>
          <a:ln/>
        </p:spPr>
        <p:txBody>
          <a:bodyPr/>
          <a:lstStyle/>
          <a:p>
            <a:endParaRPr lang="tr-TR"/>
          </a:p>
        </p:txBody>
      </p:sp>
      <p:sp>
        <p:nvSpPr>
          <p:cNvPr id="13" name="Text 11"/>
          <p:cNvSpPr/>
          <p:nvPr/>
        </p:nvSpPr>
        <p:spPr>
          <a:xfrm>
            <a:off x="4937760" y="1143000"/>
            <a:ext cx="6675120" cy="347472"/>
          </a:xfrm>
          <a:prstGeom prst="rect">
            <a:avLst/>
          </a:prstGeom>
          <a:noFill/>
          <a:ln/>
        </p:spPr>
        <p:txBody>
          <a:bodyPr wrap="square" rtlCol="0" anchor="ctr"/>
          <a:lstStyle/>
          <a:p>
            <a:pPr marL="0" indent="0">
              <a:buNone/>
            </a:pPr>
            <a:r>
              <a:rPr lang="en-US" sz="1400" b="1" dirty="0">
                <a:solidFill>
                  <a:srgbClr val="FFB703"/>
                </a:solidFill>
                <a:latin typeface="Calibri" pitchFamily="34" charset="0"/>
                <a:ea typeface="Calibri" pitchFamily="34" charset="-122"/>
                <a:cs typeface="Calibri" pitchFamily="34" charset="-120"/>
              </a:rPr>
              <a:t>What This Result Means</a:t>
            </a:r>
            <a:endParaRPr lang="en-US" sz="1400" dirty="0"/>
          </a:p>
        </p:txBody>
      </p:sp>
      <p:sp>
        <p:nvSpPr>
          <p:cNvPr id="14" name="Text 12"/>
          <p:cNvSpPr/>
          <p:nvPr/>
        </p:nvSpPr>
        <p:spPr>
          <a:xfrm>
            <a:off x="4937760" y="1554480"/>
            <a:ext cx="6675120" cy="30175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With a p-value of 0.6289 — far above the 0.05 threshold — we fail to reject the null hypothesis. At the individual fight level, having above-median takedown accuracy does NOT translate into a statistically significant higher win rate.</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This was one of the most surprising findings of the project. It directly challenges the widespread belief that grappling skill is a decisive edge in any given fight.</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The t-statistic of -0.4832 is essentially zero — there is barely any difference in win rates between the two groups at all. The result is not close to significance; it is not even in the right direction.</a:t>
            </a:r>
            <a:endParaRPr lang="en-US" sz="1250" dirty="0"/>
          </a:p>
        </p:txBody>
      </p:sp>
      <p:sp>
        <p:nvSpPr>
          <p:cNvPr id="15" name="Shape 13"/>
          <p:cNvSpPr/>
          <p:nvPr/>
        </p:nvSpPr>
        <p:spPr>
          <a:xfrm>
            <a:off x="365760" y="5074920"/>
            <a:ext cx="11475720" cy="1417320"/>
          </a:xfrm>
          <a:prstGeom prst="rect">
            <a:avLst/>
          </a:prstGeom>
          <a:solidFill>
            <a:srgbClr val="1A1A2E"/>
          </a:solidFill>
          <a:ln w="12700">
            <a:solidFill>
              <a:srgbClr val="00B4D8"/>
            </a:solidFill>
            <a:prstDash val="solid"/>
          </a:ln>
        </p:spPr>
        <p:txBody>
          <a:bodyPr/>
          <a:lstStyle/>
          <a:p>
            <a:endParaRPr lang="tr-TR"/>
          </a:p>
        </p:txBody>
      </p:sp>
      <p:sp>
        <p:nvSpPr>
          <p:cNvPr id="16" name="Text 14"/>
          <p:cNvSpPr/>
          <p:nvPr/>
        </p:nvSpPr>
        <p:spPr>
          <a:xfrm>
            <a:off x="594360" y="5193792"/>
            <a:ext cx="1106424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Why This Makes the ML Phase Essential</a:t>
            </a:r>
            <a:endParaRPr lang="en-US" sz="1300" dirty="0"/>
          </a:p>
        </p:txBody>
      </p:sp>
      <p:sp>
        <p:nvSpPr>
          <p:cNvPr id="17" name="Text 15"/>
          <p:cNvSpPr/>
          <p:nvPr/>
        </p:nvSpPr>
        <p:spPr>
          <a:xfrm>
            <a:off x="594360" y="5550408"/>
            <a:ext cx="11064240" cy="822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If grappling accuracy alone cannot predict fight outcomes, where does the grappling advantage actually live? The answer lies in career-level patterns. The machine learning phase shifts the question from 'who wins this fight?' to 'which fighters sustain long careers?' — and that is where the grappling signal emerges clearly.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MACHINE LEARNING PHASE — OVERVIEW</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10 / 19</a:t>
            </a:r>
            <a:endParaRPr lang="en-US" sz="1000" dirty="0"/>
          </a:p>
        </p:txBody>
      </p:sp>
      <p:sp>
        <p:nvSpPr>
          <p:cNvPr id="6" name="Shape 4"/>
          <p:cNvSpPr/>
          <p:nvPr/>
        </p:nvSpPr>
        <p:spPr>
          <a:xfrm>
            <a:off x="365760" y="1005840"/>
            <a:ext cx="11475720" cy="2103120"/>
          </a:xfrm>
          <a:prstGeom prst="rect">
            <a:avLst/>
          </a:prstGeom>
          <a:solidFill>
            <a:srgbClr val="1A1A2E"/>
          </a:solidFill>
          <a:ln/>
        </p:spPr>
        <p:txBody>
          <a:bodyPr/>
          <a:lstStyle/>
          <a:p>
            <a:endParaRPr lang="tr-TR"/>
          </a:p>
        </p:txBody>
      </p:sp>
      <p:sp>
        <p:nvSpPr>
          <p:cNvPr id="7" name="Shape 5"/>
          <p:cNvSpPr/>
          <p:nvPr/>
        </p:nvSpPr>
        <p:spPr>
          <a:xfrm>
            <a:off x="365760" y="1005840"/>
            <a:ext cx="54864" cy="2103120"/>
          </a:xfrm>
          <a:prstGeom prst="rect">
            <a:avLst/>
          </a:prstGeom>
          <a:solidFill>
            <a:srgbClr val="00B4D8"/>
          </a:solidFill>
          <a:ln/>
        </p:spPr>
        <p:txBody>
          <a:bodyPr/>
          <a:lstStyle/>
          <a:p>
            <a:endParaRPr lang="tr-TR"/>
          </a:p>
        </p:txBody>
      </p:sp>
      <p:sp>
        <p:nvSpPr>
          <p:cNvPr id="8" name="Text 6"/>
          <p:cNvSpPr/>
          <p:nvPr/>
        </p:nvSpPr>
        <p:spPr>
          <a:xfrm>
            <a:off x="594360" y="1143000"/>
            <a:ext cx="11064240" cy="347472"/>
          </a:xfrm>
          <a:prstGeom prst="rect">
            <a:avLst/>
          </a:prstGeom>
          <a:noFill/>
          <a:ln/>
        </p:spPr>
        <p:txBody>
          <a:bodyPr wrap="square"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From Fight-Level to Career-Level</a:t>
            </a:r>
            <a:endParaRPr lang="en-US" sz="1400" dirty="0"/>
          </a:p>
        </p:txBody>
      </p:sp>
      <p:sp>
        <p:nvSpPr>
          <p:cNvPr id="9" name="Text 7"/>
          <p:cNvSpPr/>
          <p:nvPr/>
        </p:nvSpPr>
        <p:spPr>
          <a:xfrm>
            <a:off x="594360" y="1536192"/>
            <a:ext cx="11064240" cy="13716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hypothesis test answered a short-term question and came up empty. The ML phase asks a longer-term question: can a fighter's combat metrics — their grappling scores, striking numbers, defensive stats, and physical attributes — predict whether they will become a UFC Veteran? The target variable is Experience_Level (Veteran / Prospect), which serves as a validated proxy for career success.</a:t>
            </a:r>
            <a:endParaRPr lang="en-US" sz="1250" dirty="0"/>
          </a:p>
        </p:txBody>
      </p:sp>
      <p:sp>
        <p:nvSpPr>
          <p:cNvPr id="10" name="Shape 8"/>
          <p:cNvSpPr/>
          <p:nvPr/>
        </p:nvSpPr>
        <p:spPr>
          <a:xfrm>
            <a:off x="365760" y="3291840"/>
            <a:ext cx="3749040" cy="3246120"/>
          </a:xfrm>
          <a:prstGeom prst="rect">
            <a:avLst/>
          </a:prstGeom>
          <a:solidFill>
            <a:srgbClr val="1A1A2E"/>
          </a:solidFill>
          <a:ln/>
        </p:spPr>
        <p:txBody>
          <a:bodyPr/>
          <a:lstStyle/>
          <a:p>
            <a:endParaRPr lang="tr-TR"/>
          </a:p>
        </p:txBody>
      </p:sp>
      <p:sp>
        <p:nvSpPr>
          <p:cNvPr id="11" name="Shape 9"/>
          <p:cNvSpPr/>
          <p:nvPr/>
        </p:nvSpPr>
        <p:spPr>
          <a:xfrm>
            <a:off x="365760" y="3291840"/>
            <a:ext cx="54864" cy="3246120"/>
          </a:xfrm>
          <a:prstGeom prst="rect">
            <a:avLst/>
          </a:prstGeom>
          <a:solidFill>
            <a:srgbClr val="00B4D8"/>
          </a:solidFill>
          <a:ln/>
        </p:spPr>
        <p:txBody>
          <a:bodyPr/>
          <a:lstStyle/>
          <a:p>
            <a:endParaRPr lang="tr-TR"/>
          </a:p>
        </p:txBody>
      </p:sp>
      <p:sp>
        <p:nvSpPr>
          <p:cNvPr id="12" name="Text 10"/>
          <p:cNvSpPr/>
          <p:nvPr/>
        </p:nvSpPr>
        <p:spPr>
          <a:xfrm>
            <a:off x="594360" y="3429000"/>
            <a:ext cx="3383280" cy="347472"/>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Logistic Regression</a:t>
            </a:r>
            <a:endParaRPr lang="en-US" sz="1300" dirty="0"/>
          </a:p>
        </p:txBody>
      </p:sp>
      <p:sp>
        <p:nvSpPr>
          <p:cNvPr id="13" name="Text 11"/>
          <p:cNvSpPr/>
          <p:nvPr/>
        </p:nvSpPr>
        <p:spPr>
          <a:xfrm>
            <a:off x="594360" y="3840480"/>
            <a:ext cx="3383280" cy="25146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Chosen as the primary interpretable model. Its coefficients directly answer which metrics push a fighter toward Veteran status — giving us a clear, ranked answer to the research question.</a:t>
            </a:r>
            <a:endParaRPr lang="en-US" sz="1150" dirty="0"/>
          </a:p>
        </p:txBody>
      </p:sp>
      <p:sp>
        <p:nvSpPr>
          <p:cNvPr id="14" name="Shape 12"/>
          <p:cNvSpPr/>
          <p:nvPr/>
        </p:nvSpPr>
        <p:spPr>
          <a:xfrm>
            <a:off x="4297680" y="3291840"/>
            <a:ext cx="3749040" cy="3246120"/>
          </a:xfrm>
          <a:prstGeom prst="rect">
            <a:avLst/>
          </a:prstGeom>
          <a:solidFill>
            <a:srgbClr val="1A1A2E"/>
          </a:solidFill>
          <a:ln/>
        </p:spPr>
        <p:txBody>
          <a:bodyPr/>
          <a:lstStyle/>
          <a:p>
            <a:endParaRPr lang="tr-TR"/>
          </a:p>
        </p:txBody>
      </p:sp>
      <p:sp>
        <p:nvSpPr>
          <p:cNvPr id="15" name="Shape 13"/>
          <p:cNvSpPr/>
          <p:nvPr/>
        </p:nvSpPr>
        <p:spPr>
          <a:xfrm>
            <a:off x="4297680" y="3291840"/>
            <a:ext cx="54864" cy="3246120"/>
          </a:xfrm>
          <a:prstGeom prst="rect">
            <a:avLst/>
          </a:prstGeom>
          <a:solidFill>
            <a:srgbClr val="4CAF50"/>
          </a:solidFill>
          <a:ln/>
        </p:spPr>
        <p:txBody>
          <a:bodyPr/>
          <a:lstStyle/>
          <a:p>
            <a:endParaRPr lang="tr-TR"/>
          </a:p>
        </p:txBody>
      </p:sp>
      <p:sp>
        <p:nvSpPr>
          <p:cNvPr id="16" name="Text 14"/>
          <p:cNvSpPr/>
          <p:nvPr/>
        </p:nvSpPr>
        <p:spPr>
          <a:xfrm>
            <a:off x="4526280" y="3429000"/>
            <a:ext cx="3383280" cy="347472"/>
          </a:xfrm>
          <a:prstGeom prst="rect">
            <a:avLst/>
          </a:prstGeom>
          <a:noFill/>
          <a:ln/>
        </p:spPr>
        <p:txBody>
          <a:bodyPr wrap="square" rtlCol="0" anchor="ctr"/>
          <a:lstStyle/>
          <a:p>
            <a:pPr marL="0" indent="0">
              <a:buNone/>
            </a:pPr>
            <a:r>
              <a:rPr lang="en-US" sz="1300" b="1" dirty="0">
                <a:solidFill>
                  <a:srgbClr val="4CAF50"/>
                </a:solidFill>
                <a:latin typeface="Calibri" pitchFamily="34" charset="0"/>
                <a:ea typeface="Calibri" pitchFamily="34" charset="-122"/>
                <a:cs typeface="Calibri" pitchFamily="34" charset="-120"/>
              </a:rPr>
              <a:t>Random Forest</a:t>
            </a:r>
            <a:endParaRPr lang="en-US" sz="1300" dirty="0"/>
          </a:p>
        </p:txBody>
      </p:sp>
      <p:sp>
        <p:nvSpPr>
          <p:cNvPr id="17" name="Text 15"/>
          <p:cNvSpPr/>
          <p:nvPr/>
        </p:nvSpPr>
        <p:spPr>
          <a:xfrm>
            <a:off x="4526280" y="3840480"/>
            <a:ext cx="3383280" cy="25146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Implemented to capture non-linear relationships. Tuned via 5-fold CV over max_depth ∈ {3,5,10,15} and n_estimators ∈ {50,100,200}. Best config: depth=10, n=200. Feature importances give the most direct quantitative answer.</a:t>
            </a:r>
            <a:endParaRPr lang="en-US" sz="1150" dirty="0"/>
          </a:p>
        </p:txBody>
      </p:sp>
      <p:sp>
        <p:nvSpPr>
          <p:cNvPr id="18" name="Shape 16"/>
          <p:cNvSpPr/>
          <p:nvPr/>
        </p:nvSpPr>
        <p:spPr>
          <a:xfrm>
            <a:off x="8229600" y="3291840"/>
            <a:ext cx="3749040" cy="3246120"/>
          </a:xfrm>
          <a:prstGeom prst="rect">
            <a:avLst/>
          </a:prstGeom>
          <a:solidFill>
            <a:srgbClr val="1A1A2E"/>
          </a:solidFill>
          <a:ln/>
        </p:spPr>
        <p:txBody>
          <a:bodyPr/>
          <a:lstStyle/>
          <a:p>
            <a:endParaRPr lang="tr-TR"/>
          </a:p>
        </p:txBody>
      </p:sp>
      <p:sp>
        <p:nvSpPr>
          <p:cNvPr id="19" name="Shape 17"/>
          <p:cNvSpPr/>
          <p:nvPr/>
        </p:nvSpPr>
        <p:spPr>
          <a:xfrm>
            <a:off x="8229600" y="3291840"/>
            <a:ext cx="54864" cy="3246120"/>
          </a:xfrm>
          <a:prstGeom prst="rect">
            <a:avLst/>
          </a:prstGeom>
          <a:solidFill>
            <a:srgbClr val="FFB703"/>
          </a:solidFill>
          <a:ln/>
        </p:spPr>
        <p:txBody>
          <a:bodyPr/>
          <a:lstStyle/>
          <a:p>
            <a:endParaRPr lang="tr-TR"/>
          </a:p>
        </p:txBody>
      </p:sp>
      <p:sp>
        <p:nvSpPr>
          <p:cNvPr id="20" name="Text 18"/>
          <p:cNvSpPr/>
          <p:nvPr/>
        </p:nvSpPr>
        <p:spPr>
          <a:xfrm>
            <a:off x="8458200" y="3429000"/>
            <a:ext cx="3383280" cy="347472"/>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K-Means Clustering</a:t>
            </a:r>
            <a:endParaRPr lang="en-US" sz="1300" dirty="0"/>
          </a:p>
        </p:txBody>
      </p:sp>
      <p:sp>
        <p:nvSpPr>
          <p:cNvPr id="21" name="Text 19"/>
          <p:cNvSpPr/>
          <p:nvPr/>
        </p:nvSpPr>
        <p:spPr>
          <a:xfrm>
            <a:off x="8458200" y="3840480"/>
            <a:ext cx="3383280" cy="25146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Applied unsupervised to segment fighters by combat style — no labels, no bias. Independently validates the grappling-vs-striking story by comparing Veteran rates across naturally emerging style clusters.</a:t>
            </a:r>
            <a:endParaRPr lang="en-US" sz="1150" dirty="0"/>
          </a:p>
        </p:txBody>
      </p:sp>
      <p:sp>
        <p:nvSpPr>
          <p:cNvPr id="22" name="Text 20"/>
          <p:cNvSpPr/>
          <p:nvPr/>
        </p:nvSpPr>
        <p:spPr>
          <a:xfrm>
            <a:off x="365760" y="6492240"/>
            <a:ext cx="11475720" cy="274320"/>
          </a:xfrm>
          <a:prstGeom prst="rect">
            <a:avLst/>
          </a:prstGeom>
          <a:noFill/>
          <a:ln/>
        </p:spPr>
        <p:txBody>
          <a:bodyPr wrap="square" rtlCol="0" anchor="ctr"/>
          <a:lstStyle/>
          <a:p>
            <a:pPr marL="0" indent="0" algn="ctr">
              <a:buNone/>
            </a:pPr>
            <a:r>
              <a:rPr lang="en-US" sz="1000" i="1" dirty="0">
                <a:solidFill>
                  <a:srgbClr val="9BA4B5"/>
                </a:solidFill>
                <a:latin typeface="Calibri" pitchFamily="34" charset="0"/>
                <a:ea typeface="Calibri" pitchFamily="34" charset="-122"/>
                <a:cs typeface="Calibri" pitchFamily="34" charset="-120"/>
              </a:rPr>
              <a:t>Statistical validation: Veterans and Prospects differ significantly in both grappling (p = 0.0001) and striking metrics (p &lt; 0.0001), confirming Experience_Level is a meaningful and learnable target.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LOGISTIC REGRESSION — CONFUSION MATRIX</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11 / 19</a:t>
            </a:r>
            <a:endParaRPr lang="en-US" sz="1000" dirty="0"/>
          </a:p>
        </p:txBody>
      </p:sp>
      <p:sp>
        <p:nvSpPr>
          <p:cNvPr id="6" name="Shape 4"/>
          <p:cNvSpPr/>
          <p:nvPr/>
        </p:nvSpPr>
        <p:spPr>
          <a:xfrm>
            <a:off x="365760" y="1005840"/>
            <a:ext cx="3566160" cy="914400"/>
          </a:xfrm>
          <a:prstGeom prst="rect">
            <a:avLst/>
          </a:prstGeom>
          <a:solidFill>
            <a:srgbClr val="1A1A2E"/>
          </a:solidFill>
          <a:ln w="12700">
            <a:solidFill>
              <a:srgbClr val="E63946"/>
            </a:solidFill>
            <a:prstDash val="solid"/>
          </a:ln>
        </p:spPr>
        <p:txBody>
          <a:bodyPr/>
          <a:lstStyle/>
          <a:p>
            <a:endParaRPr lang="tr-TR"/>
          </a:p>
        </p:txBody>
      </p:sp>
      <p:sp>
        <p:nvSpPr>
          <p:cNvPr id="7" name="Text 5"/>
          <p:cNvSpPr/>
          <p:nvPr/>
        </p:nvSpPr>
        <p:spPr>
          <a:xfrm>
            <a:off x="365760" y="1051560"/>
            <a:ext cx="3566160" cy="530352"/>
          </a:xfrm>
          <a:prstGeom prst="rect">
            <a:avLst/>
          </a:prstGeom>
          <a:noFill/>
          <a:ln/>
        </p:spPr>
        <p:txBody>
          <a:bodyPr wrap="square" rtlCol="0" anchor="ctr"/>
          <a:lstStyle/>
          <a:p>
            <a:pPr marL="0" indent="0" algn="ctr">
              <a:buNone/>
            </a:pPr>
            <a:r>
              <a:rPr lang="en-US" sz="2800" b="1" dirty="0">
                <a:solidFill>
                  <a:srgbClr val="E63946"/>
                </a:solidFill>
                <a:latin typeface="Arial Black" pitchFamily="34" charset="0"/>
                <a:ea typeface="Arial Black" pitchFamily="34" charset="-122"/>
                <a:cs typeface="Arial Black" pitchFamily="34" charset="-120"/>
              </a:rPr>
              <a:t>0.694</a:t>
            </a:r>
            <a:endParaRPr lang="en-US" sz="2800" dirty="0"/>
          </a:p>
        </p:txBody>
      </p:sp>
      <p:sp>
        <p:nvSpPr>
          <p:cNvPr id="8" name="Text 6"/>
          <p:cNvSpPr/>
          <p:nvPr/>
        </p:nvSpPr>
        <p:spPr>
          <a:xfrm>
            <a:off x="365760" y="1554480"/>
            <a:ext cx="35661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TEST ACCURACY</a:t>
            </a:r>
            <a:endParaRPr lang="en-US" sz="950" dirty="0"/>
          </a:p>
        </p:txBody>
      </p:sp>
      <p:sp>
        <p:nvSpPr>
          <p:cNvPr id="9" name="Shape 7"/>
          <p:cNvSpPr/>
          <p:nvPr/>
        </p:nvSpPr>
        <p:spPr>
          <a:xfrm>
            <a:off x="4160520" y="1005840"/>
            <a:ext cx="3566160" cy="914400"/>
          </a:xfrm>
          <a:prstGeom prst="rect">
            <a:avLst/>
          </a:prstGeom>
          <a:solidFill>
            <a:srgbClr val="1A1A2E"/>
          </a:solidFill>
          <a:ln w="12700">
            <a:solidFill>
              <a:srgbClr val="FFB703"/>
            </a:solidFill>
            <a:prstDash val="solid"/>
          </a:ln>
        </p:spPr>
        <p:txBody>
          <a:bodyPr/>
          <a:lstStyle/>
          <a:p>
            <a:endParaRPr lang="tr-TR"/>
          </a:p>
        </p:txBody>
      </p:sp>
      <p:sp>
        <p:nvSpPr>
          <p:cNvPr id="10" name="Text 8"/>
          <p:cNvSpPr/>
          <p:nvPr/>
        </p:nvSpPr>
        <p:spPr>
          <a:xfrm>
            <a:off x="4160520" y="1051560"/>
            <a:ext cx="3566160" cy="530352"/>
          </a:xfrm>
          <a:prstGeom prst="rect">
            <a:avLst/>
          </a:prstGeom>
          <a:noFill/>
          <a:ln/>
        </p:spPr>
        <p:txBody>
          <a:bodyPr wrap="square" rtlCol="0" anchor="ctr"/>
          <a:lstStyle/>
          <a:p>
            <a:pPr marL="0" indent="0" algn="ctr">
              <a:buNone/>
            </a:pPr>
            <a:r>
              <a:rPr lang="en-US" sz="2800" b="1" dirty="0">
                <a:solidFill>
                  <a:srgbClr val="FFB703"/>
                </a:solidFill>
                <a:latin typeface="Arial Black" pitchFamily="34" charset="0"/>
                <a:ea typeface="Arial Black" pitchFamily="34" charset="-122"/>
                <a:cs typeface="Arial Black" pitchFamily="34" charset="-120"/>
              </a:rPr>
              <a:t>0.770</a:t>
            </a:r>
            <a:endParaRPr lang="en-US" sz="2800" dirty="0"/>
          </a:p>
        </p:txBody>
      </p:sp>
      <p:sp>
        <p:nvSpPr>
          <p:cNvPr id="11" name="Text 9"/>
          <p:cNvSpPr/>
          <p:nvPr/>
        </p:nvSpPr>
        <p:spPr>
          <a:xfrm>
            <a:off x="4160520" y="1554480"/>
            <a:ext cx="35661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AUC SCORE</a:t>
            </a:r>
            <a:endParaRPr lang="en-US" sz="950" dirty="0"/>
          </a:p>
        </p:txBody>
      </p:sp>
      <p:sp>
        <p:nvSpPr>
          <p:cNvPr id="12" name="Shape 10"/>
          <p:cNvSpPr/>
          <p:nvPr/>
        </p:nvSpPr>
        <p:spPr>
          <a:xfrm>
            <a:off x="7955280" y="1005840"/>
            <a:ext cx="3566160" cy="914400"/>
          </a:xfrm>
          <a:prstGeom prst="rect">
            <a:avLst/>
          </a:prstGeom>
          <a:solidFill>
            <a:srgbClr val="1A1A2E"/>
          </a:solidFill>
          <a:ln w="12700">
            <a:solidFill>
              <a:srgbClr val="00B4D8"/>
            </a:solidFill>
            <a:prstDash val="solid"/>
          </a:ln>
        </p:spPr>
        <p:txBody>
          <a:bodyPr/>
          <a:lstStyle/>
          <a:p>
            <a:endParaRPr lang="tr-TR"/>
          </a:p>
        </p:txBody>
      </p:sp>
      <p:sp>
        <p:nvSpPr>
          <p:cNvPr id="13" name="Text 11"/>
          <p:cNvSpPr/>
          <p:nvPr/>
        </p:nvSpPr>
        <p:spPr>
          <a:xfrm>
            <a:off x="7955280" y="1051560"/>
            <a:ext cx="3566160" cy="530352"/>
          </a:xfrm>
          <a:prstGeom prst="rect">
            <a:avLst/>
          </a:prstGeom>
          <a:noFill/>
          <a:ln/>
        </p:spPr>
        <p:txBody>
          <a:bodyPr wrap="square" rtlCol="0" anchor="ctr"/>
          <a:lstStyle/>
          <a:p>
            <a:pPr marL="0" indent="0" algn="ctr">
              <a:buNone/>
            </a:pPr>
            <a:r>
              <a:rPr lang="en-US" sz="2800" b="1" dirty="0">
                <a:solidFill>
                  <a:srgbClr val="00B4D8"/>
                </a:solidFill>
                <a:latin typeface="Arial Black" pitchFamily="34" charset="0"/>
                <a:ea typeface="Arial Black" pitchFamily="34" charset="-122"/>
                <a:cs typeface="Arial Black" pitchFamily="34" charset="-120"/>
              </a:rPr>
              <a:t>0.756±0.029</a:t>
            </a:r>
            <a:endParaRPr lang="en-US" sz="2800" dirty="0"/>
          </a:p>
        </p:txBody>
      </p:sp>
      <p:sp>
        <p:nvSpPr>
          <p:cNvPr id="14" name="Text 12"/>
          <p:cNvSpPr/>
          <p:nvPr/>
        </p:nvSpPr>
        <p:spPr>
          <a:xfrm>
            <a:off x="7955280" y="1554480"/>
            <a:ext cx="3566160" cy="256032"/>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5-FOLD CV AUC</a:t>
            </a:r>
            <a:endParaRPr lang="en-US" sz="950" dirty="0"/>
          </a:p>
        </p:txBody>
      </p:sp>
      <p:pic>
        <p:nvPicPr>
          <p:cNvPr id="15" name="Image 0" descr="preencoded.png"/>
          <p:cNvPicPr>
            <a:picLocks noChangeAspect="1"/>
          </p:cNvPicPr>
          <p:nvPr/>
        </p:nvPicPr>
        <p:blipFill>
          <a:blip r:embed="rId3"/>
          <a:stretch>
            <a:fillRect/>
          </a:stretch>
        </p:blipFill>
        <p:spPr>
          <a:xfrm>
            <a:off x="365760" y="2057400"/>
            <a:ext cx="5029200" cy="3749040"/>
          </a:xfrm>
          <a:prstGeom prst="rect">
            <a:avLst/>
          </a:prstGeom>
        </p:spPr>
      </p:pic>
      <p:sp>
        <p:nvSpPr>
          <p:cNvPr id="16" name="Text 13"/>
          <p:cNvSpPr/>
          <p:nvPr/>
        </p:nvSpPr>
        <p:spPr>
          <a:xfrm>
            <a:off x="365760" y="5852160"/>
            <a:ext cx="502920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5: Logistic Regression — Confusion Matrix</a:t>
            </a:r>
            <a:endParaRPr lang="en-US" sz="850" dirty="0"/>
          </a:p>
        </p:txBody>
      </p:sp>
      <p:sp>
        <p:nvSpPr>
          <p:cNvPr id="17" name="Shape 14"/>
          <p:cNvSpPr/>
          <p:nvPr/>
        </p:nvSpPr>
        <p:spPr>
          <a:xfrm>
            <a:off x="5678424" y="2057400"/>
            <a:ext cx="6163056" cy="4526280"/>
          </a:xfrm>
          <a:prstGeom prst="rect">
            <a:avLst/>
          </a:prstGeom>
          <a:solidFill>
            <a:srgbClr val="1A1A2E"/>
          </a:solidFill>
          <a:ln/>
        </p:spPr>
        <p:txBody>
          <a:bodyPr/>
          <a:lstStyle/>
          <a:p>
            <a:endParaRPr lang="tr-TR"/>
          </a:p>
        </p:txBody>
      </p:sp>
      <p:sp>
        <p:nvSpPr>
          <p:cNvPr id="18" name="Shape 15"/>
          <p:cNvSpPr/>
          <p:nvPr/>
        </p:nvSpPr>
        <p:spPr>
          <a:xfrm>
            <a:off x="5623560" y="2057400"/>
            <a:ext cx="45720" cy="4526280"/>
          </a:xfrm>
          <a:prstGeom prst="rect">
            <a:avLst/>
          </a:prstGeom>
          <a:solidFill>
            <a:srgbClr val="00B4D8"/>
          </a:solidFill>
          <a:ln/>
        </p:spPr>
        <p:txBody>
          <a:bodyPr/>
          <a:lstStyle/>
          <a:p>
            <a:endParaRPr lang="tr-TR"/>
          </a:p>
        </p:txBody>
      </p:sp>
      <p:sp>
        <p:nvSpPr>
          <p:cNvPr id="19" name="Text 16"/>
          <p:cNvSpPr/>
          <p:nvPr/>
        </p:nvSpPr>
        <p:spPr>
          <a:xfrm>
            <a:off x="5852160" y="2194560"/>
            <a:ext cx="580644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Reading the Confusion Matrix</a:t>
            </a:r>
            <a:endParaRPr lang="en-US" sz="1300" dirty="0"/>
          </a:p>
        </p:txBody>
      </p:sp>
      <p:sp>
        <p:nvSpPr>
          <p:cNvPr id="20" name="Text 17"/>
          <p:cNvSpPr/>
          <p:nvPr/>
        </p:nvSpPr>
        <p:spPr>
          <a:xfrm>
            <a:off x="5852160" y="2578608"/>
            <a:ext cx="5806440" cy="4114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matrix shows predicted labels on the x-axis and true labels on the y-axis. The top-left cell (248) represents Prospects correctly predicted as Prospects. The bottom-right cell (49) represents Veterans correctly predicted as Veterans — this is what the model is really being optimised for.</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With class_weight='balanced' applied to correct for the 85/15 split, the model correctly identifies 49 out of 65 Veterans in the test set — a recall of 75%. Without balancing, the model would have labelled almost every fighter as Prospect by default, achieving high accuracy while learning nothing meaningful.</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The 115 false positives (Prospects predicted as Veterans) are the cost of the recall improvement. This trade-off is intentional and appropriate given the severe class imbalance.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LOGISTIC REGRESSION — TOP 10 COEFFICIENTS</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12 / 19</a:t>
            </a:r>
            <a:endParaRPr lang="en-US" sz="1000" dirty="0"/>
          </a:p>
        </p:txBody>
      </p:sp>
      <p:pic>
        <p:nvPicPr>
          <p:cNvPr id="6" name="Image 0" descr="preencoded.png"/>
          <p:cNvPicPr>
            <a:picLocks noChangeAspect="1"/>
          </p:cNvPicPr>
          <p:nvPr/>
        </p:nvPicPr>
        <p:blipFill>
          <a:blip r:embed="rId3"/>
          <a:stretch>
            <a:fillRect/>
          </a:stretch>
        </p:blipFill>
        <p:spPr>
          <a:xfrm>
            <a:off x="365760" y="1005840"/>
            <a:ext cx="7772400" cy="3566160"/>
          </a:xfrm>
          <a:prstGeom prst="rect">
            <a:avLst/>
          </a:prstGeom>
        </p:spPr>
      </p:pic>
      <p:sp>
        <p:nvSpPr>
          <p:cNvPr id="7" name="Text 4"/>
          <p:cNvSpPr/>
          <p:nvPr/>
        </p:nvSpPr>
        <p:spPr>
          <a:xfrm>
            <a:off x="365760" y="4617720"/>
            <a:ext cx="777240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6: Top 10 Logistic Regression Coefficients (Blue = toward Veteran, Red = toward Prospect)</a:t>
            </a:r>
            <a:endParaRPr lang="en-US" sz="850" dirty="0"/>
          </a:p>
        </p:txBody>
      </p:sp>
      <p:sp>
        <p:nvSpPr>
          <p:cNvPr id="8" name="Shape 5"/>
          <p:cNvSpPr/>
          <p:nvPr/>
        </p:nvSpPr>
        <p:spPr>
          <a:xfrm>
            <a:off x="8366760" y="1005840"/>
            <a:ext cx="3474720" cy="5532120"/>
          </a:xfrm>
          <a:prstGeom prst="rect">
            <a:avLst/>
          </a:prstGeom>
          <a:solidFill>
            <a:srgbClr val="1A1A2E"/>
          </a:solidFill>
          <a:ln/>
        </p:spPr>
        <p:txBody>
          <a:bodyPr/>
          <a:lstStyle/>
          <a:p>
            <a:endParaRPr lang="tr-TR"/>
          </a:p>
        </p:txBody>
      </p:sp>
      <p:sp>
        <p:nvSpPr>
          <p:cNvPr id="9" name="Shape 6"/>
          <p:cNvSpPr/>
          <p:nvPr/>
        </p:nvSpPr>
        <p:spPr>
          <a:xfrm>
            <a:off x="8366760" y="1005840"/>
            <a:ext cx="54864" cy="5532120"/>
          </a:xfrm>
          <a:prstGeom prst="rect">
            <a:avLst/>
          </a:prstGeom>
          <a:solidFill>
            <a:srgbClr val="00B4D8"/>
          </a:solidFill>
          <a:ln/>
        </p:spPr>
        <p:txBody>
          <a:bodyPr/>
          <a:lstStyle/>
          <a:p>
            <a:endParaRPr lang="tr-TR"/>
          </a:p>
        </p:txBody>
      </p:sp>
      <p:sp>
        <p:nvSpPr>
          <p:cNvPr id="10" name="Text 7"/>
          <p:cNvSpPr/>
          <p:nvPr/>
        </p:nvSpPr>
        <p:spPr>
          <a:xfrm>
            <a:off x="8595360" y="1143000"/>
            <a:ext cx="306324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How to Read This</a:t>
            </a:r>
            <a:endParaRPr lang="en-US" sz="1300" dirty="0"/>
          </a:p>
        </p:txBody>
      </p:sp>
      <p:sp>
        <p:nvSpPr>
          <p:cNvPr id="11" name="Text 8"/>
          <p:cNvSpPr/>
          <p:nvPr/>
        </p:nvSpPr>
        <p:spPr>
          <a:xfrm>
            <a:off x="8595360" y="1508760"/>
            <a:ext cx="3063240" cy="96012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Positive coefficients (blue) push the model toward predicting Veteran. Negative coefficients (red) push toward Prospect. The longer the bar, the stronger the influence.</a:t>
            </a:r>
            <a:endParaRPr lang="en-US" sz="1150" dirty="0"/>
          </a:p>
        </p:txBody>
      </p:sp>
      <p:sp>
        <p:nvSpPr>
          <p:cNvPr id="12" name="Text 9"/>
          <p:cNvSpPr/>
          <p:nvPr/>
        </p:nvSpPr>
        <p:spPr>
          <a:xfrm>
            <a:off x="8595360" y="2606040"/>
            <a:ext cx="3063240" cy="320040"/>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Key Findings</a:t>
            </a:r>
            <a:endParaRPr lang="en-US" sz="1300" dirty="0"/>
          </a:p>
        </p:txBody>
      </p:sp>
      <p:sp>
        <p:nvSpPr>
          <p:cNvPr id="13" name="Text 10"/>
          <p:cNvSpPr/>
          <p:nvPr/>
        </p:nvSpPr>
        <p:spPr>
          <a:xfrm>
            <a:off x="8595360" y="2971800"/>
            <a:ext cx="3063240" cy="219456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Stance_Orthodox and Stance_Southpaw carry the highest absolute coefficients — suggesting fighter identity and adaptability are strong signals. Str_Def and TD_Def also rank high, confirming that defensive competence matters more than offensive output for career durability. SApM (strikes absorbed per minute) carries a strong negative coefficient — the more punishment you absorb, the shorter your career.</a:t>
            </a:r>
            <a:endParaRPr lang="en-US" sz="1150" dirty="0"/>
          </a:p>
        </p:txBody>
      </p:sp>
      <p:sp>
        <p:nvSpPr>
          <p:cNvPr id="14" name="Text 11"/>
          <p:cNvSpPr/>
          <p:nvPr/>
        </p:nvSpPr>
        <p:spPr>
          <a:xfrm>
            <a:off x="8595360" y="5303520"/>
            <a:ext cx="306324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Takeaway</a:t>
            </a:r>
            <a:endParaRPr lang="en-US" sz="1200" dirty="0"/>
          </a:p>
        </p:txBody>
      </p:sp>
      <p:sp>
        <p:nvSpPr>
          <p:cNvPr id="15" name="Text 12"/>
          <p:cNvSpPr/>
          <p:nvPr/>
        </p:nvSpPr>
        <p:spPr>
          <a:xfrm>
            <a:off x="8595360" y="5623560"/>
            <a:ext cx="3063240" cy="6400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Career longevity is shaped by how well you protect yourself, not just how hard you attack.</a:t>
            </a:r>
            <a:endParaRPr lang="en-US" sz="1150" dirty="0"/>
          </a:p>
        </p:txBody>
      </p:sp>
      <p:sp>
        <p:nvSpPr>
          <p:cNvPr id="16" name="Shape 13"/>
          <p:cNvSpPr/>
          <p:nvPr/>
        </p:nvSpPr>
        <p:spPr>
          <a:xfrm>
            <a:off x="365760" y="4892040"/>
            <a:ext cx="7772400" cy="1645920"/>
          </a:xfrm>
          <a:prstGeom prst="rect">
            <a:avLst/>
          </a:prstGeom>
          <a:solidFill>
            <a:srgbClr val="1A1A2E"/>
          </a:solidFill>
          <a:ln/>
        </p:spPr>
        <p:txBody>
          <a:bodyPr/>
          <a:lstStyle/>
          <a:p>
            <a:endParaRPr lang="tr-TR"/>
          </a:p>
        </p:txBody>
      </p:sp>
      <p:sp>
        <p:nvSpPr>
          <p:cNvPr id="17" name="Shape 14"/>
          <p:cNvSpPr/>
          <p:nvPr/>
        </p:nvSpPr>
        <p:spPr>
          <a:xfrm>
            <a:off x="365760" y="4892040"/>
            <a:ext cx="54864" cy="1645920"/>
          </a:xfrm>
          <a:prstGeom prst="rect">
            <a:avLst/>
          </a:prstGeom>
          <a:solidFill>
            <a:srgbClr val="E63946"/>
          </a:solidFill>
          <a:ln/>
        </p:spPr>
        <p:txBody>
          <a:bodyPr/>
          <a:lstStyle/>
          <a:p>
            <a:endParaRPr lang="tr-TR"/>
          </a:p>
        </p:txBody>
      </p:sp>
      <p:sp>
        <p:nvSpPr>
          <p:cNvPr id="18" name="Text 15"/>
          <p:cNvSpPr/>
          <p:nvPr/>
        </p:nvSpPr>
        <p:spPr>
          <a:xfrm>
            <a:off x="594360" y="5029200"/>
            <a:ext cx="7315200" cy="13258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Defensive skills (Str_Def, TD_Def) outrank offensive metrics in predicting career longevity.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Stance features dominate — adaptability and fighter identity are the strongest career signals in this model.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RANDOM FOREST — CONFUSION MATRIX</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13 / 19</a:t>
            </a:r>
            <a:endParaRPr lang="en-US" sz="1000" dirty="0"/>
          </a:p>
        </p:txBody>
      </p:sp>
      <p:sp>
        <p:nvSpPr>
          <p:cNvPr id="6" name="Shape 4"/>
          <p:cNvSpPr/>
          <p:nvPr/>
        </p:nvSpPr>
        <p:spPr>
          <a:xfrm>
            <a:off x="365760" y="1005840"/>
            <a:ext cx="2651760" cy="896112"/>
          </a:xfrm>
          <a:prstGeom prst="rect">
            <a:avLst/>
          </a:prstGeom>
          <a:solidFill>
            <a:srgbClr val="1A1A2E"/>
          </a:solidFill>
          <a:ln w="12700">
            <a:solidFill>
              <a:srgbClr val="4CAF50"/>
            </a:solidFill>
            <a:prstDash val="solid"/>
          </a:ln>
        </p:spPr>
        <p:txBody>
          <a:bodyPr/>
          <a:lstStyle/>
          <a:p>
            <a:endParaRPr lang="tr-TR"/>
          </a:p>
        </p:txBody>
      </p:sp>
      <p:sp>
        <p:nvSpPr>
          <p:cNvPr id="7" name="Text 5"/>
          <p:cNvSpPr/>
          <p:nvPr/>
        </p:nvSpPr>
        <p:spPr>
          <a:xfrm>
            <a:off x="365760" y="1033272"/>
            <a:ext cx="2651760" cy="502920"/>
          </a:xfrm>
          <a:prstGeom prst="rect">
            <a:avLst/>
          </a:prstGeom>
          <a:noFill/>
          <a:ln/>
        </p:spPr>
        <p:txBody>
          <a:bodyPr wrap="square" rtlCol="0" anchor="ctr"/>
          <a:lstStyle/>
          <a:p>
            <a:pPr marL="0" indent="0" algn="ctr">
              <a:buNone/>
            </a:pPr>
            <a:r>
              <a:rPr lang="en-US" sz="2600" b="1" dirty="0">
                <a:solidFill>
                  <a:srgbClr val="4CAF50"/>
                </a:solidFill>
                <a:latin typeface="Arial Black" pitchFamily="34" charset="0"/>
                <a:ea typeface="Arial Black" pitchFamily="34" charset="-122"/>
                <a:cs typeface="Arial Black" pitchFamily="34" charset="-120"/>
              </a:rPr>
              <a:t>0.844</a:t>
            </a:r>
            <a:endParaRPr lang="en-US" sz="2600" dirty="0"/>
          </a:p>
        </p:txBody>
      </p:sp>
      <p:sp>
        <p:nvSpPr>
          <p:cNvPr id="8" name="Text 6"/>
          <p:cNvSpPr/>
          <p:nvPr/>
        </p:nvSpPr>
        <p:spPr>
          <a:xfrm>
            <a:off x="365760" y="1527048"/>
            <a:ext cx="2651760" cy="256032"/>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TEST ACCURACY</a:t>
            </a:r>
            <a:endParaRPr lang="en-US" sz="900" dirty="0"/>
          </a:p>
        </p:txBody>
      </p:sp>
      <p:sp>
        <p:nvSpPr>
          <p:cNvPr id="9" name="Shape 7"/>
          <p:cNvSpPr/>
          <p:nvPr/>
        </p:nvSpPr>
        <p:spPr>
          <a:xfrm>
            <a:off x="3200400" y="1005840"/>
            <a:ext cx="2651760" cy="896112"/>
          </a:xfrm>
          <a:prstGeom prst="rect">
            <a:avLst/>
          </a:prstGeom>
          <a:solidFill>
            <a:srgbClr val="1A1A2E"/>
          </a:solidFill>
          <a:ln w="12700">
            <a:solidFill>
              <a:srgbClr val="FFB703"/>
            </a:solidFill>
            <a:prstDash val="solid"/>
          </a:ln>
        </p:spPr>
        <p:txBody>
          <a:bodyPr/>
          <a:lstStyle/>
          <a:p>
            <a:endParaRPr lang="tr-TR"/>
          </a:p>
        </p:txBody>
      </p:sp>
      <p:sp>
        <p:nvSpPr>
          <p:cNvPr id="10" name="Text 8"/>
          <p:cNvSpPr/>
          <p:nvPr/>
        </p:nvSpPr>
        <p:spPr>
          <a:xfrm>
            <a:off x="3200400" y="1033272"/>
            <a:ext cx="2651760" cy="502920"/>
          </a:xfrm>
          <a:prstGeom prst="rect">
            <a:avLst/>
          </a:prstGeom>
          <a:noFill/>
          <a:ln/>
        </p:spPr>
        <p:txBody>
          <a:bodyPr wrap="square" rtlCol="0" anchor="ctr"/>
          <a:lstStyle/>
          <a:p>
            <a:pPr marL="0" indent="0" algn="ctr">
              <a:buNone/>
            </a:pPr>
            <a:r>
              <a:rPr lang="en-US" sz="2600" b="1" dirty="0">
                <a:solidFill>
                  <a:srgbClr val="FFB703"/>
                </a:solidFill>
                <a:latin typeface="Arial Black" pitchFamily="34" charset="0"/>
                <a:ea typeface="Arial Black" pitchFamily="34" charset="-122"/>
                <a:cs typeface="Arial Black" pitchFamily="34" charset="-120"/>
              </a:rPr>
              <a:t>0.879</a:t>
            </a:r>
            <a:endParaRPr lang="en-US" sz="2600" dirty="0"/>
          </a:p>
        </p:txBody>
      </p:sp>
      <p:sp>
        <p:nvSpPr>
          <p:cNvPr id="11" name="Text 9"/>
          <p:cNvSpPr/>
          <p:nvPr/>
        </p:nvSpPr>
        <p:spPr>
          <a:xfrm>
            <a:off x="3200400" y="1527048"/>
            <a:ext cx="2651760" cy="256032"/>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AUC SCORE</a:t>
            </a:r>
            <a:endParaRPr lang="en-US" sz="900" dirty="0"/>
          </a:p>
        </p:txBody>
      </p:sp>
      <p:sp>
        <p:nvSpPr>
          <p:cNvPr id="12" name="Shape 10"/>
          <p:cNvSpPr/>
          <p:nvPr/>
        </p:nvSpPr>
        <p:spPr>
          <a:xfrm>
            <a:off x="6035040" y="1005840"/>
            <a:ext cx="2651760" cy="896112"/>
          </a:xfrm>
          <a:prstGeom prst="rect">
            <a:avLst/>
          </a:prstGeom>
          <a:solidFill>
            <a:srgbClr val="1A1A2E"/>
          </a:solidFill>
          <a:ln w="12700">
            <a:solidFill>
              <a:srgbClr val="00B4D8"/>
            </a:solidFill>
            <a:prstDash val="solid"/>
          </a:ln>
        </p:spPr>
        <p:txBody>
          <a:bodyPr/>
          <a:lstStyle/>
          <a:p>
            <a:endParaRPr lang="tr-TR"/>
          </a:p>
        </p:txBody>
      </p:sp>
      <p:sp>
        <p:nvSpPr>
          <p:cNvPr id="13" name="Text 11"/>
          <p:cNvSpPr/>
          <p:nvPr/>
        </p:nvSpPr>
        <p:spPr>
          <a:xfrm>
            <a:off x="6035040" y="1033272"/>
            <a:ext cx="2651760" cy="502920"/>
          </a:xfrm>
          <a:prstGeom prst="rect">
            <a:avLst/>
          </a:prstGeom>
          <a:noFill/>
          <a:ln/>
        </p:spPr>
        <p:txBody>
          <a:bodyPr wrap="square" rtlCol="0" anchor="ctr"/>
          <a:lstStyle/>
          <a:p>
            <a:pPr marL="0" indent="0" algn="ctr">
              <a:buNone/>
            </a:pPr>
            <a:r>
              <a:rPr lang="en-US" sz="1400" b="1" dirty="0">
                <a:solidFill>
                  <a:srgbClr val="00B4D8"/>
                </a:solidFill>
                <a:latin typeface="Arial Black" pitchFamily="34" charset="0"/>
                <a:ea typeface="Arial Black" pitchFamily="34" charset="-122"/>
                <a:cs typeface="Arial Black" pitchFamily="34" charset="-120"/>
              </a:rPr>
              <a:t>0.872±0.029</a:t>
            </a:r>
            <a:endParaRPr lang="en-US" sz="1400" dirty="0"/>
          </a:p>
        </p:txBody>
      </p:sp>
      <p:sp>
        <p:nvSpPr>
          <p:cNvPr id="14" name="Text 12"/>
          <p:cNvSpPr/>
          <p:nvPr/>
        </p:nvSpPr>
        <p:spPr>
          <a:xfrm>
            <a:off x="6035040" y="1527048"/>
            <a:ext cx="2651760" cy="256032"/>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5-FOLD CV AUC</a:t>
            </a:r>
            <a:endParaRPr lang="en-US" sz="900" dirty="0"/>
          </a:p>
        </p:txBody>
      </p:sp>
      <p:sp>
        <p:nvSpPr>
          <p:cNvPr id="15" name="Shape 13"/>
          <p:cNvSpPr/>
          <p:nvPr/>
        </p:nvSpPr>
        <p:spPr>
          <a:xfrm>
            <a:off x="8869680" y="1005840"/>
            <a:ext cx="2651760" cy="896112"/>
          </a:xfrm>
          <a:prstGeom prst="rect">
            <a:avLst/>
          </a:prstGeom>
          <a:solidFill>
            <a:srgbClr val="1A1A2E"/>
          </a:solidFill>
          <a:ln w="12700">
            <a:solidFill>
              <a:srgbClr val="E63946"/>
            </a:solidFill>
            <a:prstDash val="solid"/>
          </a:ln>
        </p:spPr>
        <p:txBody>
          <a:bodyPr/>
          <a:lstStyle/>
          <a:p>
            <a:endParaRPr lang="tr-TR"/>
          </a:p>
        </p:txBody>
      </p:sp>
      <p:sp>
        <p:nvSpPr>
          <p:cNvPr id="16" name="Text 14"/>
          <p:cNvSpPr/>
          <p:nvPr/>
        </p:nvSpPr>
        <p:spPr>
          <a:xfrm>
            <a:off x="8869680" y="1033272"/>
            <a:ext cx="2651760" cy="502920"/>
          </a:xfrm>
          <a:prstGeom prst="rect">
            <a:avLst/>
          </a:prstGeom>
          <a:noFill/>
          <a:ln/>
        </p:spPr>
        <p:txBody>
          <a:bodyPr wrap="square" rtlCol="0" anchor="ctr"/>
          <a:lstStyle/>
          <a:p>
            <a:pPr marL="0" indent="0" algn="ctr">
              <a:buNone/>
            </a:pPr>
            <a:r>
              <a:rPr lang="en-US" sz="1400" b="1" dirty="0">
                <a:solidFill>
                  <a:srgbClr val="E63946"/>
                </a:solidFill>
                <a:latin typeface="Arial Black" pitchFamily="34" charset="0"/>
                <a:ea typeface="Arial Black" pitchFamily="34" charset="-122"/>
                <a:cs typeface="Arial Black" pitchFamily="34" charset="-120"/>
              </a:rPr>
              <a:t>depth=10, n=200</a:t>
            </a:r>
            <a:endParaRPr lang="en-US" sz="1400" dirty="0"/>
          </a:p>
        </p:txBody>
      </p:sp>
      <p:sp>
        <p:nvSpPr>
          <p:cNvPr id="17" name="Text 15"/>
          <p:cNvSpPr/>
          <p:nvPr/>
        </p:nvSpPr>
        <p:spPr>
          <a:xfrm>
            <a:off x="8869680" y="1527048"/>
            <a:ext cx="2651760" cy="256032"/>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BEST PARAMS</a:t>
            </a:r>
            <a:endParaRPr lang="en-US" sz="900" dirty="0"/>
          </a:p>
        </p:txBody>
      </p:sp>
      <p:pic>
        <p:nvPicPr>
          <p:cNvPr id="18" name="Image 0" descr="preencoded.png"/>
          <p:cNvPicPr>
            <a:picLocks noChangeAspect="1"/>
          </p:cNvPicPr>
          <p:nvPr/>
        </p:nvPicPr>
        <p:blipFill>
          <a:blip r:embed="rId3"/>
          <a:stretch>
            <a:fillRect/>
          </a:stretch>
        </p:blipFill>
        <p:spPr>
          <a:xfrm>
            <a:off x="365760" y="2057400"/>
            <a:ext cx="5029200" cy="3749040"/>
          </a:xfrm>
          <a:prstGeom prst="rect">
            <a:avLst/>
          </a:prstGeom>
        </p:spPr>
      </p:pic>
      <p:sp>
        <p:nvSpPr>
          <p:cNvPr id="19" name="Text 16"/>
          <p:cNvSpPr/>
          <p:nvPr/>
        </p:nvSpPr>
        <p:spPr>
          <a:xfrm>
            <a:off x="365760" y="5852160"/>
            <a:ext cx="502920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7: Random Forest — Confusion Matrix</a:t>
            </a:r>
            <a:endParaRPr lang="en-US" sz="850" dirty="0"/>
          </a:p>
        </p:txBody>
      </p:sp>
      <p:sp>
        <p:nvSpPr>
          <p:cNvPr id="20" name="Shape 17"/>
          <p:cNvSpPr/>
          <p:nvPr/>
        </p:nvSpPr>
        <p:spPr>
          <a:xfrm>
            <a:off x="5623560" y="2057400"/>
            <a:ext cx="6217920" cy="4846320"/>
          </a:xfrm>
          <a:prstGeom prst="rect">
            <a:avLst/>
          </a:prstGeom>
          <a:solidFill>
            <a:srgbClr val="1A1A2E"/>
          </a:solidFill>
          <a:ln/>
        </p:spPr>
        <p:txBody>
          <a:bodyPr/>
          <a:lstStyle/>
          <a:p>
            <a:endParaRPr lang="tr-TR"/>
          </a:p>
        </p:txBody>
      </p:sp>
      <p:sp>
        <p:nvSpPr>
          <p:cNvPr id="21" name="Shape 18"/>
          <p:cNvSpPr/>
          <p:nvPr/>
        </p:nvSpPr>
        <p:spPr>
          <a:xfrm>
            <a:off x="5623560" y="2057400"/>
            <a:ext cx="54864" cy="4846320"/>
          </a:xfrm>
          <a:prstGeom prst="rect">
            <a:avLst/>
          </a:prstGeom>
          <a:solidFill>
            <a:srgbClr val="4CAF50"/>
          </a:solidFill>
          <a:ln/>
        </p:spPr>
        <p:txBody>
          <a:bodyPr/>
          <a:lstStyle/>
          <a:p>
            <a:endParaRPr lang="tr-TR"/>
          </a:p>
        </p:txBody>
      </p:sp>
      <p:sp>
        <p:nvSpPr>
          <p:cNvPr id="22" name="Text 19"/>
          <p:cNvSpPr/>
          <p:nvPr/>
        </p:nvSpPr>
        <p:spPr>
          <a:xfrm>
            <a:off x="5852160" y="2194560"/>
            <a:ext cx="5806440" cy="320040"/>
          </a:xfrm>
          <a:prstGeom prst="rect">
            <a:avLst/>
          </a:prstGeom>
          <a:noFill/>
          <a:ln/>
        </p:spPr>
        <p:txBody>
          <a:bodyPr wrap="square" rtlCol="0" anchor="ctr"/>
          <a:lstStyle/>
          <a:p>
            <a:pPr marL="0" indent="0">
              <a:buNone/>
            </a:pPr>
            <a:r>
              <a:rPr lang="en-US" sz="1300" b="1" dirty="0">
                <a:solidFill>
                  <a:srgbClr val="4CAF50"/>
                </a:solidFill>
                <a:latin typeface="Calibri" pitchFamily="34" charset="0"/>
                <a:ea typeface="Calibri" pitchFamily="34" charset="-122"/>
                <a:cs typeface="Calibri" pitchFamily="34" charset="-120"/>
              </a:rPr>
              <a:t>Improvement Over Logistic Regression</a:t>
            </a:r>
            <a:endParaRPr lang="en-US" sz="1300" dirty="0"/>
          </a:p>
        </p:txBody>
      </p:sp>
      <p:sp>
        <p:nvSpPr>
          <p:cNvPr id="23" name="Text 20"/>
          <p:cNvSpPr/>
          <p:nvPr/>
        </p:nvSpPr>
        <p:spPr>
          <a:xfrm>
            <a:off x="5852160" y="2578608"/>
            <a:ext cx="5806440" cy="41148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Random Forest confusion matrix shows a clear step up from Logistic Regression. 45 out of 65 Veterans are correctly identified (69% recall) — slightly lower than LR's 75%, but with substantially higher precision at 49% vs. 30%. This means far fewer false alarms: fighters being labelled Veteran when they are actually Prospects dropped from 115 to 47.</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The model was tuned via 5-fold cross-validation over a grid of max_depth values (3, 5, 10, 15) and n_estimators values (50, 100, 200). The optimal configuration — max_depth=10 with 200 trees — balances complexity and generalisation. Deeper trees captured non-linear interactions; more trees reduced variance.</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The AUC improvement from 0.77 to 0.88 is the most meaningful metric — it reflects the model's overall ability to rank Veterans above Prospects across all thresholds.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RANDOM FOREST — FEATURE IMPORTANCE</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14 / 19</a:t>
            </a:r>
            <a:endParaRPr lang="en-US" sz="1000" dirty="0"/>
          </a:p>
        </p:txBody>
      </p:sp>
      <p:pic>
        <p:nvPicPr>
          <p:cNvPr id="6" name="Image 0" descr="preencoded.png"/>
          <p:cNvPicPr>
            <a:picLocks noChangeAspect="1"/>
          </p:cNvPicPr>
          <p:nvPr/>
        </p:nvPicPr>
        <p:blipFill>
          <a:blip r:embed="rId3"/>
          <a:stretch>
            <a:fillRect/>
          </a:stretch>
        </p:blipFill>
        <p:spPr>
          <a:xfrm>
            <a:off x="365760" y="1005840"/>
            <a:ext cx="7772400" cy="3840480"/>
          </a:xfrm>
          <a:prstGeom prst="rect">
            <a:avLst/>
          </a:prstGeom>
        </p:spPr>
      </p:pic>
      <p:sp>
        <p:nvSpPr>
          <p:cNvPr id="7" name="Text 4"/>
          <p:cNvSpPr/>
          <p:nvPr/>
        </p:nvSpPr>
        <p:spPr>
          <a:xfrm>
            <a:off x="365760" y="4892040"/>
            <a:ext cx="777240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8: Top 10 Feature Importances (Green = Grappling, Red = Striking, Gray = Physical)</a:t>
            </a:r>
            <a:endParaRPr lang="en-US" sz="850" dirty="0"/>
          </a:p>
        </p:txBody>
      </p:sp>
      <p:sp>
        <p:nvSpPr>
          <p:cNvPr id="8" name="Shape 5"/>
          <p:cNvSpPr/>
          <p:nvPr/>
        </p:nvSpPr>
        <p:spPr>
          <a:xfrm>
            <a:off x="365760" y="5212080"/>
            <a:ext cx="2423160" cy="566928"/>
          </a:xfrm>
          <a:prstGeom prst="rect">
            <a:avLst/>
          </a:prstGeom>
          <a:solidFill>
            <a:srgbClr val="1A1A2E"/>
          </a:solidFill>
          <a:ln w="12700">
            <a:solidFill>
              <a:srgbClr val="4CAF50"/>
            </a:solidFill>
            <a:prstDash val="solid"/>
          </a:ln>
        </p:spPr>
        <p:txBody>
          <a:bodyPr/>
          <a:lstStyle/>
          <a:p>
            <a:endParaRPr lang="tr-TR"/>
          </a:p>
        </p:txBody>
      </p:sp>
      <p:sp>
        <p:nvSpPr>
          <p:cNvPr id="9" name="Text 6"/>
          <p:cNvSpPr/>
          <p:nvPr/>
        </p:nvSpPr>
        <p:spPr>
          <a:xfrm>
            <a:off x="365760" y="5212080"/>
            <a:ext cx="2423160" cy="566928"/>
          </a:xfrm>
          <a:prstGeom prst="rect">
            <a:avLst/>
          </a:prstGeom>
          <a:noFill/>
          <a:ln/>
        </p:spPr>
        <p:txBody>
          <a:bodyPr wrap="square" rtlCol="0" anchor="ctr"/>
          <a:lstStyle/>
          <a:p>
            <a:pPr marL="0" indent="0" algn="ctr">
              <a:buNone/>
            </a:pPr>
            <a:r>
              <a:rPr lang="en-US" sz="1200" b="1" dirty="0">
                <a:solidFill>
                  <a:srgbClr val="4CAF50"/>
                </a:solidFill>
                <a:latin typeface="Calibri" pitchFamily="34" charset="0"/>
                <a:ea typeface="Calibri" pitchFamily="34" charset="-122"/>
                <a:cs typeface="Calibri" pitchFamily="34" charset="-120"/>
              </a:rPr>
              <a:t>Grappling: 56.2%</a:t>
            </a:r>
            <a:endParaRPr lang="en-US" sz="1200" dirty="0"/>
          </a:p>
        </p:txBody>
      </p:sp>
      <p:sp>
        <p:nvSpPr>
          <p:cNvPr id="10" name="Shape 7"/>
          <p:cNvSpPr/>
          <p:nvPr/>
        </p:nvSpPr>
        <p:spPr>
          <a:xfrm>
            <a:off x="2971800" y="5212080"/>
            <a:ext cx="2423160" cy="566928"/>
          </a:xfrm>
          <a:prstGeom prst="rect">
            <a:avLst/>
          </a:prstGeom>
          <a:solidFill>
            <a:srgbClr val="1A1A2E"/>
          </a:solidFill>
          <a:ln w="12700">
            <a:solidFill>
              <a:srgbClr val="E63946"/>
            </a:solidFill>
            <a:prstDash val="solid"/>
          </a:ln>
        </p:spPr>
        <p:txBody>
          <a:bodyPr/>
          <a:lstStyle/>
          <a:p>
            <a:endParaRPr lang="tr-TR"/>
          </a:p>
        </p:txBody>
      </p:sp>
      <p:sp>
        <p:nvSpPr>
          <p:cNvPr id="11" name="Text 8"/>
          <p:cNvSpPr/>
          <p:nvPr/>
        </p:nvSpPr>
        <p:spPr>
          <a:xfrm>
            <a:off x="2971800" y="5212080"/>
            <a:ext cx="2423160" cy="566928"/>
          </a:xfrm>
          <a:prstGeom prst="rect">
            <a:avLst/>
          </a:prstGeom>
          <a:noFill/>
          <a:ln/>
        </p:spPr>
        <p:txBody>
          <a:bodyPr wrap="square" rtlCol="0" anchor="ctr"/>
          <a:lstStyle/>
          <a:p>
            <a:pPr marL="0" indent="0" algn="ctr">
              <a:buNone/>
            </a:pPr>
            <a:r>
              <a:rPr lang="en-US" sz="1200" b="1" dirty="0">
                <a:solidFill>
                  <a:srgbClr val="E63946"/>
                </a:solidFill>
                <a:latin typeface="Calibri" pitchFamily="34" charset="0"/>
                <a:ea typeface="Calibri" pitchFamily="34" charset="-122"/>
                <a:cs typeface="Calibri" pitchFamily="34" charset="-120"/>
              </a:rPr>
              <a:t>Striking: 30.2%</a:t>
            </a:r>
            <a:endParaRPr lang="en-US" sz="1200" dirty="0"/>
          </a:p>
        </p:txBody>
      </p:sp>
      <p:sp>
        <p:nvSpPr>
          <p:cNvPr id="12" name="Shape 9"/>
          <p:cNvSpPr/>
          <p:nvPr/>
        </p:nvSpPr>
        <p:spPr>
          <a:xfrm>
            <a:off x="5577840" y="5212080"/>
            <a:ext cx="2423160" cy="566928"/>
          </a:xfrm>
          <a:prstGeom prst="rect">
            <a:avLst/>
          </a:prstGeom>
          <a:solidFill>
            <a:srgbClr val="1A1A2E"/>
          </a:solidFill>
          <a:ln w="12700">
            <a:solidFill>
              <a:srgbClr val="9BA4B5"/>
            </a:solidFill>
            <a:prstDash val="solid"/>
          </a:ln>
        </p:spPr>
        <p:txBody>
          <a:bodyPr/>
          <a:lstStyle/>
          <a:p>
            <a:endParaRPr lang="tr-TR"/>
          </a:p>
        </p:txBody>
      </p:sp>
      <p:sp>
        <p:nvSpPr>
          <p:cNvPr id="13" name="Text 10"/>
          <p:cNvSpPr/>
          <p:nvPr/>
        </p:nvSpPr>
        <p:spPr>
          <a:xfrm>
            <a:off x="5577840" y="5212080"/>
            <a:ext cx="2423160" cy="566928"/>
          </a:xfrm>
          <a:prstGeom prst="rect">
            <a:avLst/>
          </a:prstGeom>
          <a:noFill/>
          <a:ln/>
        </p:spPr>
        <p:txBody>
          <a:bodyPr wrap="square" rtlCol="0" anchor="ctr"/>
          <a:lstStyle/>
          <a:p>
            <a:pPr marL="0" indent="0" algn="ctr">
              <a:buNone/>
            </a:pPr>
            <a:r>
              <a:rPr lang="en-US" sz="1200" b="1" dirty="0">
                <a:solidFill>
                  <a:srgbClr val="9BA4B5"/>
                </a:solidFill>
                <a:latin typeface="Calibri" pitchFamily="34" charset="0"/>
                <a:ea typeface="Calibri" pitchFamily="34" charset="-122"/>
                <a:cs typeface="Calibri" pitchFamily="34" charset="-120"/>
              </a:rPr>
              <a:t>Physical: 13.6%</a:t>
            </a:r>
            <a:endParaRPr lang="en-US" sz="1200" dirty="0"/>
          </a:p>
        </p:txBody>
      </p:sp>
      <p:sp>
        <p:nvSpPr>
          <p:cNvPr id="14" name="Shape 11"/>
          <p:cNvSpPr/>
          <p:nvPr/>
        </p:nvSpPr>
        <p:spPr>
          <a:xfrm>
            <a:off x="8366760" y="1005840"/>
            <a:ext cx="3474720" cy="5577840"/>
          </a:xfrm>
          <a:prstGeom prst="rect">
            <a:avLst/>
          </a:prstGeom>
          <a:solidFill>
            <a:srgbClr val="1A1A2E"/>
          </a:solidFill>
          <a:ln/>
        </p:spPr>
        <p:txBody>
          <a:bodyPr/>
          <a:lstStyle/>
          <a:p>
            <a:endParaRPr lang="tr-TR"/>
          </a:p>
        </p:txBody>
      </p:sp>
      <p:sp>
        <p:nvSpPr>
          <p:cNvPr id="15" name="Shape 12"/>
          <p:cNvSpPr/>
          <p:nvPr/>
        </p:nvSpPr>
        <p:spPr>
          <a:xfrm>
            <a:off x="8366760" y="1005840"/>
            <a:ext cx="54864" cy="5577840"/>
          </a:xfrm>
          <a:prstGeom prst="rect">
            <a:avLst/>
          </a:prstGeom>
          <a:solidFill>
            <a:srgbClr val="4CAF50"/>
          </a:solidFill>
          <a:ln/>
        </p:spPr>
        <p:txBody>
          <a:bodyPr/>
          <a:lstStyle/>
          <a:p>
            <a:endParaRPr lang="tr-TR"/>
          </a:p>
        </p:txBody>
      </p:sp>
      <p:sp>
        <p:nvSpPr>
          <p:cNvPr id="16" name="Text 13"/>
          <p:cNvSpPr/>
          <p:nvPr/>
        </p:nvSpPr>
        <p:spPr>
          <a:xfrm>
            <a:off x="8595360" y="1143000"/>
            <a:ext cx="3063240" cy="320040"/>
          </a:xfrm>
          <a:prstGeom prst="rect">
            <a:avLst/>
          </a:prstGeom>
          <a:noFill/>
          <a:ln/>
        </p:spPr>
        <p:txBody>
          <a:bodyPr wrap="square" rtlCol="0" anchor="ctr"/>
          <a:lstStyle/>
          <a:p>
            <a:pPr marL="0" indent="0">
              <a:buNone/>
            </a:pPr>
            <a:r>
              <a:rPr lang="en-US" sz="1300" b="1" dirty="0">
                <a:solidFill>
                  <a:srgbClr val="4CAF50"/>
                </a:solidFill>
                <a:latin typeface="Calibri" pitchFamily="34" charset="0"/>
                <a:ea typeface="Calibri" pitchFamily="34" charset="-122"/>
                <a:cs typeface="Calibri" pitchFamily="34" charset="-120"/>
              </a:rPr>
              <a:t>The Direct Answer</a:t>
            </a:r>
            <a:endParaRPr lang="en-US" sz="1300" dirty="0"/>
          </a:p>
        </p:txBody>
      </p:sp>
      <p:sp>
        <p:nvSpPr>
          <p:cNvPr id="17" name="Text 14"/>
          <p:cNvSpPr/>
          <p:nvPr/>
        </p:nvSpPr>
        <p:spPr>
          <a:xfrm>
            <a:off x="8595360" y="1508760"/>
            <a:ext cx="3063240" cy="10515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This chart is the most direct quantitative answer this project gives to its own research question. Grappling metrics collectively account for 56.2% of the model's total predictive power.</a:t>
            </a:r>
            <a:endParaRPr lang="en-US" sz="1200" dirty="0"/>
          </a:p>
        </p:txBody>
      </p:sp>
      <p:sp>
        <p:nvSpPr>
          <p:cNvPr id="18" name="Text 15"/>
          <p:cNvSpPr/>
          <p:nvPr/>
        </p:nvSpPr>
        <p:spPr>
          <a:xfrm>
            <a:off x="8595360" y="2697480"/>
            <a:ext cx="3063240" cy="292608"/>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Top Features</a:t>
            </a:r>
            <a:endParaRPr lang="en-US" sz="1300" dirty="0"/>
          </a:p>
        </p:txBody>
      </p:sp>
      <p:sp>
        <p:nvSpPr>
          <p:cNvPr id="19" name="Text 16"/>
          <p:cNvSpPr/>
          <p:nvPr/>
        </p:nvSpPr>
        <p:spPr>
          <a:xfrm>
            <a:off x="8595360" y="3035808"/>
            <a:ext cx="3063240" cy="1691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TD_Acc (~14.5%) — The single most important feature. Sub_Avg and TD_Def follow closely. All three are grappling metrics. Str_Def ranks 4th — the only striking metric in the top four, and it is a defensive one. SLpM and Striking_Score appear in the bottom half of the top 10.</a:t>
            </a:r>
            <a:endParaRPr lang="en-US" sz="1200" dirty="0"/>
          </a:p>
        </p:txBody>
      </p:sp>
      <p:sp>
        <p:nvSpPr>
          <p:cNvPr id="20" name="Text 17"/>
          <p:cNvSpPr/>
          <p:nvPr/>
        </p:nvSpPr>
        <p:spPr>
          <a:xfrm>
            <a:off x="8595360" y="4864608"/>
            <a:ext cx="3063240" cy="292608"/>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The Takeaway</a:t>
            </a:r>
            <a:endParaRPr lang="en-US" sz="1300" dirty="0"/>
          </a:p>
        </p:txBody>
      </p:sp>
      <p:sp>
        <p:nvSpPr>
          <p:cNvPr id="21" name="Text 18"/>
          <p:cNvSpPr/>
          <p:nvPr/>
        </p:nvSpPr>
        <p:spPr>
          <a:xfrm>
            <a:off x="8595360" y="5193792"/>
            <a:ext cx="3063240" cy="7772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Grappling dominates career prediction. Striking matters — but plays a supporting role.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K-MEANS CLUSTERING — FINDING OPTIMAL k</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15 / 19</a:t>
            </a:r>
            <a:endParaRPr lang="en-US" sz="1000" dirty="0"/>
          </a:p>
        </p:txBody>
      </p:sp>
      <p:pic>
        <p:nvPicPr>
          <p:cNvPr id="6" name="Image 0" descr="preencoded.png"/>
          <p:cNvPicPr>
            <a:picLocks noChangeAspect="1"/>
          </p:cNvPicPr>
          <p:nvPr/>
        </p:nvPicPr>
        <p:blipFill>
          <a:blip r:embed="rId3"/>
          <a:stretch>
            <a:fillRect/>
          </a:stretch>
        </p:blipFill>
        <p:spPr>
          <a:xfrm>
            <a:off x="365760" y="1005840"/>
            <a:ext cx="7955280" cy="2697480"/>
          </a:xfrm>
          <a:prstGeom prst="rect">
            <a:avLst/>
          </a:prstGeom>
        </p:spPr>
      </p:pic>
      <p:sp>
        <p:nvSpPr>
          <p:cNvPr id="7" name="Text 4"/>
          <p:cNvSpPr/>
          <p:nvPr/>
        </p:nvSpPr>
        <p:spPr>
          <a:xfrm>
            <a:off x="365760" y="3749040"/>
            <a:ext cx="795528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9: Elbow Method (left) and Silhouette Score (right) — Both confirm k=3</a:t>
            </a:r>
            <a:endParaRPr lang="en-US" sz="850" dirty="0"/>
          </a:p>
        </p:txBody>
      </p:sp>
      <p:sp>
        <p:nvSpPr>
          <p:cNvPr id="8" name="Shape 5"/>
          <p:cNvSpPr/>
          <p:nvPr/>
        </p:nvSpPr>
        <p:spPr>
          <a:xfrm>
            <a:off x="8503920" y="1005840"/>
            <a:ext cx="3337560" cy="2743200"/>
          </a:xfrm>
          <a:prstGeom prst="rect">
            <a:avLst/>
          </a:prstGeom>
          <a:solidFill>
            <a:srgbClr val="1A1A2E"/>
          </a:solidFill>
          <a:ln w="12700">
            <a:solidFill>
              <a:srgbClr val="00B4D8"/>
            </a:solidFill>
            <a:prstDash val="solid"/>
          </a:ln>
        </p:spPr>
        <p:txBody>
          <a:bodyPr/>
          <a:lstStyle/>
          <a:p>
            <a:endParaRPr lang="tr-TR"/>
          </a:p>
        </p:txBody>
      </p:sp>
      <p:sp>
        <p:nvSpPr>
          <p:cNvPr id="9" name="Text 6"/>
          <p:cNvSpPr/>
          <p:nvPr/>
        </p:nvSpPr>
        <p:spPr>
          <a:xfrm>
            <a:off x="8503920" y="1234440"/>
            <a:ext cx="3337560" cy="1097280"/>
          </a:xfrm>
          <a:prstGeom prst="rect">
            <a:avLst/>
          </a:prstGeom>
          <a:noFill/>
          <a:ln/>
        </p:spPr>
        <p:txBody>
          <a:bodyPr wrap="square" rtlCol="0" anchor="ctr"/>
          <a:lstStyle/>
          <a:p>
            <a:pPr marL="0" indent="0" algn="ctr">
              <a:buNone/>
            </a:pPr>
            <a:r>
              <a:rPr lang="en-US" sz="6800" b="1" dirty="0">
                <a:solidFill>
                  <a:srgbClr val="00B4D8"/>
                </a:solidFill>
                <a:latin typeface="Arial Black" pitchFamily="34" charset="0"/>
                <a:ea typeface="Arial Black" pitchFamily="34" charset="-122"/>
                <a:cs typeface="Arial Black" pitchFamily="34" charset="-120"/>
              </a:rPr>
              <a:t>k = 3</a:t>
            </a:r>
            <a:endParaRPr lang="en-US" sz="6800" dirty="0"/>
          </a:p>
        </p:txBody>
      </p:sp>
      <p:sp>
        <p:nvSpPr>
          <p:cNvPr id="10" name="Text 7"/>
          <p:cNvSpPr/>
          <p:nvPr/>
        </p:nvSpPr>
        <p:spPr>
          <a:xfrm>
            <a:off x="8503920" y="2377440"/>
            <a:ext cx="3337560" cy="32004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OPTIMAL CLUSTERS</a:t>
            </a:r>
            <a:endParaRPr lang="en-US" sz="1300" dirty="0"/>
          </a:p>
        </p:txBody>
      </p:sp>
      <p:sp>
        <p:nvSpPr>
          <p:cNvPr id="11" name="Text 8"/>
          <p:cNvSpPr/>
          <p:nvPr/>
        </p:nvSpPr>
        <p:spPr>
          <a:xfrm>
            <a:off x="8503920" y="2743200"/>
            <a:ext cx="3337560" cy="731520"/>
          </a:xfrm>
          <a:prstGeom prst="rect">
            <a:avLst/>
          </a:prstGeom>
          <a:noFill/>
          <a:ln/>
        </p:spPr>
        <p:txBody>
          <a:bodyPr wrap="square" rtlCol="0" anchor="ctr"/>
          <a:lstStyle/>
          <a:p>
            <a:pPr marL="0" indent="0" algn="ctr">
              <a:buNone/>
            </a:pPr>
            <a:r>
              <a:rPr lang="en-US" sz="1200" i="1" dirty="0">
                <a:solidFill>
                  <a:srgbClr val="9BA4B5"/>
                </a:solidFill>
                <a:latin typeface="Calibri" pitchFamily="34" charset="0"/>
                <a:ea typeface="Calibri" pitchFamily="34" charset="-122"/>
                <a:cs typeface="Calibri" pitchFamily="34" charset="-120"/>
              </a:rPr>
              <a:t>Elbow + Silhouette agree</a:t>
            </a:r>
            <a:endParaRPr lang="en-US" sz="1200" dirty="0"/>
          </a:p>
        </p:txBody>
      </p:sp>
      <p:sp>
        <p:nvSpPr>
          <p:cNvPr id="12" name="Shape 9"/>
          <p:cNvSpPr/>
          <p:nvPr/>
        </p:nvSpPr>
        <p:spPr>
          <a:xfrm>
            <a:off x="365760" y="4069080"/>
            <a:ext cx="11475720" cy="2468880"/>
          </a:xfrm>
          <a:prstGeom prst="rect">
            <a:avLst/>
          </a:prstGeom>
          <a:solidFill>
            <a:srgbClr val="1A1A2E"/>
          </a:solidFill>
          <a:ln/>
        </p:spPr>
        <p:txBody>
          <a:bodyPr/>
          <a:lstStyle/>
          <a:p>
            <a:endParaRPr lang="tr-TR"/>
          </a:p>
        </p:txBody>
      </p:sp>
      <p:sp>
        <p:nvSpPr>
          <p:cNvPr id="13" name="Shape 10"/>
          <p:cNvSpPr/>
          <p:nvPr/>
        </p:nvSpPr>
        <p:spPr>
          <a:xfrm>
            <a:off x="365760" y="4069080"/>
            <a:ext cx="54864" cy="2468880"/>
          </a:xfrm>
          <a:prstGeom prst="rect">
            <a:avLst/>
          </a:prstGeom>
          <a:solidFill>
            <a:srgbClr val="00B4D8"/>
          </a:solidFill>
          <a:ln/>
        </p:spPr>
        <p:txBody>
          <a:bodyPr/>
          <a:lstStyle/>
          <a:p>
            <a:endParaRPr lang="tr-TR"/>
          </a:p>
        </p:txBody>
      </p:sp>
      <p:sp>
        <p:nvSpPr>
          <p:cNvPr id="14" name="Text 11"/>
          <p:cNvSpPr/>
          <p:nvPr/>
        </p:nvSpPr>
        <p:spPr>
          <a:xfrm>
            <a:off x="594360" y="4206240"/>
            <a:ext cx="1106424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How the Optimal k Was Selected</a:t>
            </a:r>
            <a:endParaRPr lang="en-US" sz="1300" dirty="0"/>
          </a:p>
        </p:txBody>
      </p:sp>
      <p:sp>
        <p:nvSpPr>
          <p:cNvPr id="15" name="Text 12"/>
          <p:cNvSpPr/>
          <p:nvPr/>
        </p:nvSpPr>
        <p:spPr>
          <a:xfrm>
            <a:off x="594360" y="4572000"/>
            <a:ext cx="11064240" cy="19202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Two independent methods were used to choose k, and both pointed to the same answer:</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Elbow Method: The within-cluster inertia drops steeply from k=2 to k=3, then the curve flattens out. The 'elbow' — the point of diminishing returns — is clearly at k=3.</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Silhouette Score: This metric measures how well each data point fits its own cluster compared to neighbouring clusters. It peaks at k=2 (0.42) and then at k=3 (0.30), with a clear drop at k=4 and beyond. k=3 is the highest meaningful structure.</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When two independent methods agree on the same number of clusters, it provides strong confidence that the structure in the data is real — not an artefact of the algorithm.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K-MEANS CLUSTERING — COMBAT STYLE SEGMENTS</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16 / 19</a:t>
            </a:r>
            <a:endParaRPr lang="en-US" sz="1000" dirty="0"/>
          </a:p>
        </p:txBody>
      </p:sp>
      <p:pic>
        <p:nvPicPr>
          <p:cNvPr id="6" name="Image 0" descr="preencoded.png"/>
          <p:cNvPicPr>
            <a:picLocks noChangeAspect="1"/>
          </p:cNvPicPr>
          <p:nvPr/>
        </p:nvPicPr>
        <p:blipFill>
          <a:blip r:embed="rId3"/>
          <a:stretch>
            <a:fillRect/>
          </a:stretch>
        </p:blipFill>
        <p:spPr>
          <a:xfrm>
            <a:off x="365760" y="1005840"/>
            <a:ext cx="6492240" cy="5120640"/>
          </a:xfrm>
          <a:prstGeom prst="rect">
            <a:avLst/>
          </a:prstGeom>
        </p:spPr>
      </p:pic>
      <p:sp>
        <p:nvSpPr>
          <p:cNvPr id="7" name="Text 4"/>
          <p:cNvSpPr/>
          <p:nvPr/>
        </p:nvSpPr>
        <p:spPr>
          <a:xfrm>
            <a:off x="365760" y="6172200"/>
            <a:ext cx="649224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10: K-Means Clusters — Fighter Combat Style Segments (k=3)</a:t>
            </a:r>
            <a:endParaRPr lang="en-US" sz="850" dirty="0"/>
          </a:p>
        </p:txBody>
      </p:sp>
      <p:sp>
        <p:nvSpPr>
          <p:cNvPr id="8" name="Shape 5"/>
          <p:cNvSpPr/>
          <p:nvPr/>
        </p:nvSpPr>
        <p:spPr>
          <a:xfrm>
            <a:off x="7086600" y="1005840"/>
            <a:ext cx="4754880" cy="1691640"/>
          </a:xfrm>
          <a:prstGeom prst="rect">
            <a:avLst/>
          </a:prstGeom>
          <a:solidFill>
            <a:srgbClr val="1A1A2E"/>
          </a:solidFill>
          <a:ln/>
        </p:spPr>
        <p:txBody>
          <a:bodyPr/>
          <a:lstStyle/>
          <a:p>
            <a:endParaRPr lang="tr-TR"/>
          </a:p>
        </p:txBody>
      </p:sp>
      <p:sp>
        <p:nvSpPr>
          <p:cNvPr id="9" name="Shape 6"/>
          <p:cNvSpPr/>
          <p:nvPr/>
        </p:nvSpPr>
        <p:spPr>
          <a:xfrm>
            <a:off x="7086600" y="1005840"/>
            <a:ext cx="54864" cy="1691640"/>
          </a:xfrm>
          <a:prstGeom prst="rect">
            <a:avLst/>
          </a:prstGeom>
          <a:solidFill>
            <a:srgbClr val="4CAF50"/>
          </a:solidFill>
          <a:ln/>
        </p:spPr>
        <p:txBody>
          <a:bodyPr/>
          <a:lstStyle/>
          <a:p>
            <a:endParaRPr lang="tr-TR"/>
          </a:p>
        </p:txBody>
      </p:sp>
      <p:sp>
        <p:nvSpPr>
          <p:cNvPr id="10" name="Text 7"/>
          <p:cNvSpPr/>
          <p:nvPr/>
        </p:nvSpPr>
        <p:spPr>
          <a:xfrm>
            <a:off x="7315200" y="1097280"/>
            <a:ext cx="2926080" cy="292608"/>
          </a:xfrm>
          <a:prstGeom prst="rect">
            <a:avLst/>
          </a:prstGeom>
          <a:noFill/>
          <a:ln/>
        </p:spPr>
        <p:txBody>
          <a:bodyPr wrap="square" rtlCol="0" anchor="ctr"/>
          <a:lstStyle/>
          <a:p>
            <a:pPr marL="0" indent="0">
              <a:buNone/>
            </a:pPr>
            <a:r>
              <a:rPr lang="en-US" sz="1300" b="1" dirty="0">
                <a:solidFill>
                  <a:srgbClr val="4CAF50"/>
                </a:solidFill>
                <a:latin typeface="Calibri" pitchFamily="34" charset="0"/>
                <a:ea typeface="Calibri" pitchFamily="34" charset="-122"/>
                <a:cs typeface="Calibri" pitchFamily="34" charset="-120"/>
              </a:rPr>
              <a:t>Grappler-Dominant</a:t>
            </a:r>
            <a:endParaRPr lang="en-US" sz="1300" dirty="0"/>
          </a:p>
        </p:txBody>
      </p:sp>
      <p:sp>
        <p:nvSpPr>
          <p:cNvPr id="11" name="Text 8"/>
          <p:cNvSpPr/>
          <p:nvPr/>
        </p:nvSpPr>
        <p:spPr>
          <a:xfrm>
            <a:off x="7315200" y="1408176"/>
            <a:ext cx="2926080" cy="256032"/>
          </a:xfrm>
          <a:prstGeom prst="rect">
            <a:avLst/>
          </a:prstGeom>
          <a:noFill/>
          <a:ln/>
        </p:spPr>
        <p:txBody>
          <a:bodyPr wrap="square" rtlCol="0" anchor="ctr"/>
          <a:lstStyle/>
          <a:p>
            <a:pPr marL="0" indent="0">
              <a:buNone/>
            </a:pPr>
            <a:r>
              <a:rPr lang="en-US" sz="1050" i="1" dirty="0">
                <a:solidFill>
                  <a:srgbClr val="9BA4B5"/>
                </a:solidFill>
                <a:latin typeface="Calibri" pitchFamily="34" charset="0"/>
                <a:ea typeface="Calibri" pitchFamily="34" charset="-122"/>
                <a:cs typeface="Calibri" pitchFamily="34" charset="-120"/>
              </a:rPr>
              <a:t>High TD_Avg, Low SLpM</a:t>
            </a:r>
            <a:endParaRPr lang="en-US" sz="1050" dirty="0"/>
          </a:p>
        </p:txBody>
      </p:sp>
      <p:sp>
        <p:nvSpPr>
          <p:cNvPr id="12" name="Text 9"/>
          <p:cNvSpPr/>
          <p:nvPr/>
        </p:nvSpPr>
        <p:spPr>
          <a:xfrm>
            <a:off x="7315200" y="1700784"/>
            <a:ext cx="2926080" cy="8229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Fighters who take the fight to the ground. They do not necessarily throw a lot of strikes, but they are consistently active with takedowns and submission attempts. More than 1 in 5 become Veterans.</a:t>
            </a:r>
            <a:endParaRPr lang="en-US" sz="1050" dirty="0"/>
          </a:p>
        </p:txBody>
      </p:sp>
      <p:sp>
        <p:nvSpPr>
          <p:cNvPr id="13" name="Text 10"/>
          <p:cNvSpPr/>
          <p:nvPr/>
        </p:nvSpPr>
        <p:spPr>
          <a:xfrm>
            <a:off x="10241280" y="1097280"/>
            <a:ext cx="1417320" cy="594360"/>
          </a:xfrm>
          <a:prstGeom prst="rect">
            <a:avLst/>
          </a:prstGeom>
          <a:noFill/>
          <a:ln/>
        </p:spPr>
        <p:txBody>
          <a:bodyPr wrap="square" rtlCol="0" anchor="ctr"/>
          <a:lstStyle/>
          <a:p>
            <a:pPr marL="0" indent="0" algn="ctr">
              <a:buNone/>
            </a:pPr>
            <a:r>
              <a:rPr lang="en-US" sz="2800" b="1" dirty="0">
                <a:solidFill>
                  <a:srgbClr val="4CAF50"/>
                </a:solidFill>
                <a:latin typeface="Arial Black" pitchFamily="34" charset="0"/>
                <a:ea typeface="Arial Black" pitchFamily="34" charset="-122"/>
                <a:cs typeface="Arial Black" pitchFamily="34" charset="-120"/>
              </a:rPr>
              <a:t>22.6%</a:t>
            </a:r>
            <a:endParaRPr lang="en-US" sz="2800" dirty="0"/>
          </a:p>
        </p:txBody>
      </p:sp>
      <p:sp>
        <p:nvSpPr>
          <p:cNvPr id="14" name="Text 11"/>
          <p:cNvSpPr/>
          <p:nvPr/>
        </p:nvSpPr>
        <p:spPr>
          <a:xfrm>
            <a:off x="10241280" y="1691640"/>
            <a:ext cx="1417320" cy="256032"/>
          </a:xfrm>
          <a:prstGeom prst="rect">
            <a:avLst/>
          </a:prstGeom>
          <a:noFill/>
          <a:ln/>
        </p:spPr>
        <p:txBody>
          <a:bodyPr wrap="square" rtlCol="0" anchor="ctr"/>
          <a:lstStyle/>
          <a:p>
            <a:pPr marL="0" indent="0" algn="ctr">
              <a:buNone/>
            </a:pPr>
            <a:r>
              <a:rPr lang="en-US" sz="900" dirty="0">
                <a:solidFill>
                  <a:srgbClr val="9BA4B5"/>
                </a:solidFill>
                <a:latin typeface="Calibri" pitchFamily="34" charset="0"/>
                <a:ea typeface="Calibri" pitchFamily="34" charset="-122"/>
                <a:cs typeface="Calibri" pitchFamily="34" charset="-120"/>
              </a:rPr>
              <a:t>Veteran Rate</a:t>
            </a:r>
            <a:endParaRPr lang="en-US" sz="900" dirty="0"/>
          </a:p>
        </p:txBody>
      </p:sp>
      <p:sp>
        <p:nvSpPr>
          <p:cNvPr id="15" name="Text 12"/>
          <p:cNvSpPr/>
          <p:nvPr/>
        </p:nvSpPr>
        <p:spPr>
          <a:xfrm>
            <a:off x="10241280" y="1984248"/>
            <a:ext cx="1417320" cy="54864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~1,198 fighters</a:t>
            </a:r>
            <a:endParaRPr lang="en-US" sz="900" dirty="0"/>
          </a:p>
        </p:txBody>
      </p:sp>
      <p:sp>
        <p:nvSpPr>
          <p:cNvPr id="16" name="Shape 13"/>
          <p:cNvSpPr/>
          <p:nvPr/>
        </p:nvSpPr>
        <p:spPr>
          <a:xfrm>
            <a:off x="7086600" y="2880360"/>
            <a:ext cx="4754880" cy="1691640"/>
          </a:xfrm>
          <a:prstGeom prst="rect">
            <a:avLst/>
          </a:prstGeom>
          <a:solidFill>
            <a:srgbClr val="1A1A2E"/>
          </a:solidFill>
          <a:ln/>
        </p:spPr>
        <p:txBody>
          <a:bodyPr/>
          <a:lstStyle/>
          <a:p>
            <a:endParaRPr lang="tr-TR"/>
          </a:p>
        </p:txBody>
      </p:sp>
      <p:sp>
        <p:nvSpPr>
          <p:cNvPr id="17" name="Shape 14"/>
          <p:cNvSpPr/>
          <p:nvPr/>
        </p:nvSpPr>
        <p:spPr>
          <a:xfrm>
            <a:off x="7086600" y="2880360"/>
            <a:ext cx="54864" cy="1691640"/>
          </a:xfrm>
          <a:prstGeom prst="rect">
            <a:avLst/>
          </a:prstGeom>
          <a:solidFill>
            <a:srgbClr val="E63946"/>
          </a:solidFill>
          <a:ln/>
        </p:spPr>
        <p:txBody>
          <a:bodyPr/>
          <a:lstStyle/>
          <a:p>
            <a:endParaRPr lang="tr-TR"/>
          </a:p>
        </p:txBody>
      </p:sp>
      <p:sp>
        <p:nvSpPr>
          <p:cNvPr id="18" name="Text 15"/>
          <p:cNvSpPr/>
          <p:nvPr/>
        </p:nvSpPr>
        <p:spPr>
          <a:xfrm>
            <a:off x="7315200" y="2971800"/>
            <a:ext cx="2926080" cy="292608"/>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Striker-Dominant</a:t>
            </a:r>
            <a:endParaRPr lang="en-US" sz="1300" dirty="0"/>
          </a:p>
        </p:txBody>
      </p:sp>
      <p:sp>
        <p:nvSpPr>
          <p:cNvPr id="19" name="Text 16"/>
          <p:cNvSpPr/>
          <p:nvPr/>
        </p:nvSpPr>
        <p:spPr>
          <a:xfrm>
            <a:off x="7315200" y="3282696"/>
            <a:ext cx="2926080" cy="256032"/>
          </a:xfrm>
          <a:prstGeom prst="rect">
            <a:avLst/>
          </a:prstGeom>
          <a:noFill/>
          <a:ln/>
        </p:spPr>
        <p:txBody>
          <a:bodyPr wrap="square" rtlCol="0" anchor="ctr"/>
          <a:lstStyle/>
          <a:p>
            <a:pPr marL="0" indent="0">
              <a:buNone/>
            </a:pPr>
            <a:r>
              <a:rPr lang="en-US" sz="1050" i="1" dirty="0">
                <a:solidFill>
                  <a:srgbClr val="9BA4B5"/>
                </a:solidFill>
                <a:latin typeface="Calibri" pitchFamily="34" charset="0"/>
                <a:ea typeface="Calibri" pitchFamily="34" charset="-122"/>
                <a:cs typeface="Calibri" pitchFamily="34" charset="-120"/>
              </a:rPr>
              <a:t>High SLpM, Low TD_Avg</a:t>
            </a:r>
            <a:endParaRPr lang="en-US" sz="1050" dirty="0"/>
          </a:p>
        </p:txBody>
      </p:sp>
      <p:sp>
        <p:nvSpPr>
          <p:cNvPr id="20" name="Text 17"/>
          <p:cNvSpPr/>
          <p:nvPr/>
        </p:nvSpPr>
        <p:spPr>
          <a:xfrm>
            <a:off x="7315200" y="3575304"/>
            <a:ext cx="2926080" cy="8229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Fighters who prefer to keep the fight standing. High strike output, minimal grappling activity. Less than 1 in 11 reach Veteran status — 2.5x lower than the grappler group.</a:t>
            </a:r>
            <a:endParaRPr lang="en-US" sz="1050" dirty="0"/>
          </a:p>
        </p:txBody>
      </p:sp>
      <p:sp>
        <p:nvSpPr>
          <p:cNvPr id="21" name="Text 18"/>
          <p:cNvSpPr/>
          <p:nvPr/>
        </p:nvSpPr>
        <p:spPr>
          <a:xfrm>
            <a:off x="10241280" y="2971800"/>
            <a:ext cx="1417320" cy="594360"/>
          </a:xfrm>
          <a:prstGeom prst="rect">
            <a:avLst/>
          </a:prstGeom>
          <a:noFill/>
          <a:ln/>
        </p:spPr>
        <p:txBody>
          <a:bodyPr wrap="square" rtlCol="0" anchor="ctr"/>
          <a:lstStyle/>
          <a:p>
            <a:pPr marL="0" indent="0" algn="ctr">
              <a:buNone/>
            </a:pPr>
            <a:r>
              <a:rPr lang="en-US" sz="2800" b="1" dirty="0">
                <a:solidFill>
                  <a:srgbClr val="E63946"/>
                </a:solidFill>
                <a:latin typeface="Arial Black" pitchFamily="34" charset="0"/>
                <a:ea typeface="Arial Black" pitchFamily="34" charset="-122"/>
                <a:cs typeface="Arial Black" pitchFamily="34" charset="-120"/>
              </a:rPr>
              <a:t>8.9%</a:t>
            </a:r>
            <a:endParaRPr lang="en-US" sz="2800" dirty="0"/>
          </a:p>
        </p:txBody>
      </p:sp>
      <p:sp>
        <p:nvSpPr>
          <p:cNvPr id="22" name="Text 19"/>
          <p:cNvSpPr/>
          <p:nvPr/>
        </p:nvSpPr>
        <p:spPr>
          <a:xfrm>
            <a:off x="10241280" y="3566160"/>
            <a:ext cx="1417320" cy="256032"/>
          </a:xfrm>
          <a:prstGeom prst="rect">
            <a:avLst/>
          </a:prstGeom>
          <a:noFill/>
          <a:ln/>
        </p:spPr>
        <p:txBody>
          <a:bodyPr wrap="square" rtlCol="0" anchor="ctr"/>
          <a:lstStyle/>
          <a:p>
            <a:pPr marL="0" indent="0" algn="ctr">
              <a:buNone/>
            </a:pPr>
            <a:r>
              <a:rPr lang="en-US" sz="900" dirty="0">
                <a:solidFill>
                  <a:srgbClr val="9BA4B5"/>
                </a:solidFill>
                <a:latin typeface="Calibri" pitchFamily="34" charset="0"/>
                <a:ea typeface="Calibri" pitchFamily="34" charset="-122"/>
                <a:cs typeface="Calibri" pitchFamily="34" charset="-120"/>
              </a:rPr>
              <a:t>Veteran Rate</a:t>
            </a:r>
            <a:endParaRPr lang="en-US" sz="900" dirty="0"/>
          </a:p>
        </p:txBody>
      </p:sp>
      <p:sp>
        <p:nvSpPr>
          <p:cNvPr id="23" name="Text 20"/>
          <p:cNvSpPr/>
          <p:nvPr/>
        </p:nvSpPr>
        <p:spPr>
          <a:xfrm>
            <a:off x="10241280" y="3858768"/>
            <a:ext cx="1417320" cy="54864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~1,199 fighters</a:t>
            </a:r>
            <a:endParaRPr lang="en-US" sz="900" dirty="0"/>
          </a:p>
        </p:txBody>
      </p:sp>
      <p:sp>
        <p:nvSpPr>
          <p:cNvPr id="24" name="Shape 21"/>
          <p:cNvSpPr/>
          <p:nvPr/>
        </p:nvSpPr>
        <p:spPr>
          <a:xfrm>
            <a:off x="7086600" y="4754880"/>
            <a:ext cx="4754880" cy="1691640"/>
          </a:xfrm>
          <a:prstGeom prst="rect">
            <a:avLst/>
          </a:prstGeom>
          <a:solidFill>
            <a:srgbClr val="1A1A2E"/>
          </a:solidFill>
          <a:ln/>
        </p:spPr>
        <p:txBody>
          <a:bodyPr/>
          <a:lstStyle/>
          <a:p>
            <a:endParaRPr lang="tr-TR"/>
          </a:p>
        </p:txBody>
      </p:sp>
      <p:sp>
        <p:nvSpPr>
          <p:cNvPr id="25" name="Shape 22"/>
          <p:cNvSpPr/>
          <p:nvPr/>
        </p:nvSpPr>
        <p:spPr>
          <a:xfrm>
            <a:off x="7086600" y="4754880"/>
            <a:ext cx="54864" cy="1691640"/>
          </a:xfrm>
          <a:prstGeom prst="rect">
            <a:avLst/>
          </a:prstGeom>
          <a:solidFill>
            <a:srgbClr val="FFB703"/>
          </a:solidFill>
          <a:ln/>
        </p:spPr>
        <p:txBody>
          <a:bodyPr/>
          <a:lstStyle/>
          <a:p>
            <a:endParaRPr lang="tr-TR"/>
          </a:p>
        </p:txBody>
      </p:sp>
      <p:sp>
        <p:nvSpPr>
          <p:cNvPr id="26" name="Text 23"/>
          <p:cNvSpPr/>
          <p:nvPr/>
        </p:nvSpPr>
        <p:spPr>
          <a:xfrm>
            <a:off x="7315200" y="4846320"/>
            <a:ext cx="2926080" cy="292608"/>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All-Rounder</a:t>
            </a:r>
            <a:endParaRPr lang="en-US" sz="1300" dirty="0"/>
          </a:p>
        </p:txBody>
      </p:sp>
      <p:sp>
        <p:nvSpPr>
          <p:cNvPr id="27" name="Text 24"/>
          <p:cNvSpPr/>
          <p:nvPr/>
        </p:nvSpPr>
        <p:spPr>
          <a:xfrm>
            <a:off x="7315200" y="5157216"/>
            <a:ext cx="2926080" cy="256032"/>
          </a:xfrm>
          <a:prstGeom prst="rect">
            <a:avLst/>
          </a:prstGeom>
          <a:noFill/>
          <a:ln/>
        </p:spPr>
        <p:txBody>
          <a:bodyPr wrap="square" rtlCol="0" anchor="ctr"/>
          <a:lstStyle/>
          <a:p>
            <a:pPr marL="0" indent="0">
              <a:buNone/>
            </a:pPr>
            <a:r>
              <a:rPr lang="en-US" sz="1050" i="1" dirty="0">
                <a:solidFill>
                  <a:srgbClr val="9BA4B5"/>
                </a:solidFill>
                <a:latin typeface="Calibri" pitchFamily="34" charset="0"/>
                <a:ea typeface="Calibri" pitchFamily="34" charset="-122"/>
                <a:cs typeface="Calibri" pitchFamily="34" charset="-120"/>
              </a:rPr>
              <a:t>Moderate in both</a:t>
            </a:r>
            <a:endParaRPr lang="en-US" sz="1050" dirty="0"/>
          </a:p>
        </p:txBody>
      </p:sp>
      <p:sp>
        <p:nvSpPr>
          <p:cNvPr id="28" name="Text 25"/>
          <p:cNvSpPr/>
          <p:nvPr/>
        </p:nvSpPr>
        <p:spPr>
          <a:xfrm>
            <a:off x="7315200" y="5449824"/>
            <a:ext cx="2926080" cy="8229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Perhaps the most surprising finding: fighters who try to be balanced across both dimensions have by far the lowest Veteran rate. Specialisation — not versatility — is the key to career longevity.</a:t>
            </a:r>
            <a:endParaRPr lang="en-US" sz="1050" dirty="0"/>
          </a:p>
        </p:txBody>
      </p:sp>
      <p:sp>
        <p:nvSpPr>
          <p:cNvPr id="29" name="Text 26"/>
          <p:cNvSpPr/>
          <p:nvPr/>
        </p:nvSpPr>
        <p:spPr>
          <a:xfrm>
            <a:off x="10241280" y="4846320"/>
            <a:ext cx="1417320" cy="594360"/>
          </a:xfrm>
          <a:prstGeom prst="rect">
            <a:avLst/>
          </a:prstGeom>
          <a:noFill/>
          <a:ln/>
        </p:spPr>
        <p:txBody>
          <a:bodyPr wrap="square" rtlCol="0" anchor="ctr"/>
          <a:lstStyle/>
          <a:p>
            <a:pPr marL="0" indent="0" algn="ctr">
              <a:buNone/>
            </a:pPr>
            <a:r>
              <a:rPr lang="en-US" sz="2800" b="1" dirty="0">
                <a:solidFill>
                  <a:srgbClr val="FFB703"/>
                </a:solidFill>
                <a:latin typeface="Arial Black" pitchFamily="34" charset="0"/>
                <a:ea typeface="Arial Black" pitchFamily="34" charset="-122"/>
                <a:cs typeface="Arial Black" pitchFamily="34" charset="-120"/>
              </a:rPr>
              <a:t>0.6%</a:t>
            </a:r>
            <a:endParaRPr lang="en-US" sz="2800" dirty="0"/>
          </a:p>
        </p:txBody>
      </p:sp>
      <p:sp>
        <p:nvSpPr>
          <p:cNvPr id="30" name="Text 27"/>
          <p:cNvSpPr/>
          <p:nvPr/>
        </p:nvSpPr>
        <p:spPr>
          <a:xfrm>
            <a:off x="10241280" y="5440680"/>
            <a:ext cx="1417320" cy="256032"/>
          </a:xfrm>
          <a:prstGeom prst="rect">
            <a:avLst/>
          </a:prstGeom>
          <a:noFill/>
          <a:ln/>
        </p:spPr>
        <p:txBody>
          <a:bodyPr wrap="square" rtlCol="0" anchor="ctr"/>
          <a:lstStyle/>
          <a:p>
            <a:pPr marL="0" indent="0" algn="ctr">
              <a:buNone/>
            </a:pPr>
            <a:r>
              <a:rPr lang="en-US" sz="900" dirty="0">
                <a:solidFill>
                  <a:srgbClr val="9BA4B5"/>
                </a:solidFill>
                <a:latin typeface="Calibri" pitchFamily="34" charset="0"/>
                <a:ea typeface="Calibri" pitchFamily="34" charset="-122"/>
                <a:cs typeface="Calibri" pitchFamily="34" charset="-120"/>
              </a:rPr>
              <a:t>Veteran Rate</a:t>
            </a:r>
            <a:endParaRPr lang="en-US" sz="900" dirty="0"/>
          </a:p>
        </p:txBody>
      </p:sp>
      <p:sp>
        <p:nvSpPr>
          <p:cNvPr id="31" name="Text 28"/>
          <p:cNvSpPr/>
          <p:nvPr/>
        </p:nvSpPr>
        <p:spPr>
          <a:xfrm>
            <a:off x="10241280" y="5733288"/>
            <a:ext cx="1417320" cy="548640"/>
          </a:xfrm>
          <a:prstGeom prst="rect">
            <a:avLst/>
          </a:prstGeom>
          <a:noFill/>
          <a:ln/>
        </p:spPr>
        <p:txBody>
          <a:bodyPr wrap="square" rtlCol="0" anchor="ctr"/>
          <a:lstStyle/>
          <a:p>
            <a:pPr marL="0" indent="0" algn="ctr">
              <a:buNone/>
            </a:pPr>
            <a:r>
              <a:rPr lang="en-US" sz="900" i="1" dirty="0">
                <a:solidFill>
                  <a:srgbClr val="9BA4B5"/>
                </a:solidFill>
                <a:latin typeface="Calibri" pitchFamily="34" charset="0"/>
                <a:ea typeface="Calibri" pitchFamily="34" charset="-122"/>
                <a:cs typeface="Calibri" pitchFamily="34" charset="-120"/>
              </a:rPr>
              <a:t>~1,199 fighters</a:t>
            </a:r>
            <a:endParaRPr lang="en-US" sz="900" dirty="0"/>
          </a:p>
        </p:txBody>
      </p:sp>
      <p:sp>
        <p:nvSpPr>
          <p:cNvPr id="32" name="Shape 29"/>
          <p:cNvSpPr/>
          <p:nvPr/>
        </p:nvSpPr>
        <p:spPr>
          <a:xfrm>
            <a:off x="7086600" y="6583680"/>
            <a:ext cx="4754880" cy="182880"/>
          </a:xfrm>
          <a:prstGeom prst="rect">
            <a:avLst/>
          </a:prstGeom>
          <a:solidFill>
            <a:srgbClr val="1A1A2E"/>
          </a:solidFill>
          <a:ln/>
        </p:spPr>
        <p:txBody>
          <a:bodyPr/>
          <a:lstStyle/>
          <a:p>
            <a:endParaRPr lang="tr-TR"/>
          </a:p>
        </p:txBody>
      </p:sp>
      <p:sp>
        <p:nvSpPr>
          <p:cNvPr id="33" name="Text 30"/>
          <p:cNvSpPr/>
          <p:nvPr/>
        </p:nvSpPr>
        <p:spPr>
          <a:xfrm>
            <a:off x="7086600" y="6492240"/>
            <a:ext cx="4754880" cy="292608"/>
          </a:xfrm>
          <a:prstGeom prst="rect">
            <a:avLst/>
          </a:prstGeom>
          <a:noFill/>
          <a:ln/>
        </p:spPr>
        <p:txBody>
          <a:bodyPr wrap="square" rtlCol="0" anchor="ctr"/>
          <a:lstStyle/>
          <a:p>
            <a:pPr marL="0" indent="0" algn="ctr">
              <a:buNone/>
            </a:pPr>
            <a:r>
              <a:rPr lang="en-US" sz="1000" b="1" dirty="0">
                <a:solidFill>
                  <a:srgbClr val="FFB703"/>
                </a:solidFill>
                <a:latin typeface="Calibri" pitchFamily="34" charset="0"/>
                <a:ea typeface="Calibri" pitchFamily="34" charset="-122"/>
                <a:cs typeface="Calibri" pitchFamily="34" charset="-120"/>
              </a:rPr>
              <a:t>Grapplers are 2.5× more likely to reach Veteran status than pure strikers  (22.6% vs. 8.9%)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MODEL COMPARISON — ROC CURVES</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17 / 19</a:t>
            </a:r>
            <a:endParaRPr lang="en-US" sz="1000" dirty="0"/>
          </a:p>
        </p:txBody>
      </p:sp>
      <p:pic>
        <p:nvPicPr>
          <p:cNvPr id="6" name="Image 0" descr="preencoded.png"/>
          <p:cNvPicPr>
            <a:picLocks noChangeAspect="1"/>
          </p:cNvPicPr>
          <p:nvPr/>
        </p:nvPicPr>
        <p:blipFill>
          <a:blip r:embed="rId3"/>
          <a:stretch>
            <a:fillRect/>
          </a:stretch>
        </p:blipFill>
        <p:spPr>
          <a:xfrm>
            <a:off x="365760" y="1005840"/>
            <a:ext cx="6126480" cy="4572000"/>
          </a:xfrm>
          <a:prstGeom prst="rect">
            <a:avLst/>
          </a:prstGeom>
        </p:spPr>
      </p:pic>
      <p:sp>
        <p:nvSpPr>
          <p:cNvPr id="7" name="Text 4"/>
          <p:cNvSpPr/>
          <p:nvPr/>
        </p:nvSpPr>
        <p:spPr>
          <a:xfrm>
            <a:off x="365760" y="5623560"/>
            <a:ext cx="6126480" cy="201168"/>
          </a:xfrm>
          <a:prstGeom prst="rect">
            <a:avLst/>
          </a:prstGeom>
          <a:noFill/>
          <a:ln/>
        </p:spPr>
        <p:txBody>
          <a:bodyPr wrap="square" rtlCol="0" anchor="ctr"/>
          <a:lstStyle/>
          <a:p>
            <a:pPr marL="0" indent="0" algn="ctr">
              <a:buNone/>
            </a:pPr>
            <a:r>
              <a:rPr lang="en-US" sz="850" i="1" dirty="0">
                <a:solidFill>
                  <a:srgbClr val="9BA4B5"/>
                </a:solidFill>
                <a:latin typeface="Calibri" pitchFamily="34" charset="0"/>
                <a:ea typeface="Calibri" pitchFamily="34" charset="-122"/>
                <a:cs typeface="Calibri" pitchFamily="34" charset="-120"/>
              </a:rPr>
              <a:t>Figure 11: ROC Curve — Random Forest (AUC=0.88) vs. Logistic Regression (AUC=0.77)</a:t>
            </a:r>
            <a:endParaRPr lang="en-US" sz="850" dirty="0"/>
          </a:p>
        </p:txBody>
      </p:sp>
      <p:sp>
        <p:nvSpPr>
          <p:cNvPr id="8" name="Shape 5"/>
          <p:cNvSpPr/>
          <p:nvPr/>
        </p:nvSpPr>
        <p:spPr>
          <a:xfrm>
            <a:off x="6720840" y="1005840"/>
            <a:ext cx="5120640" cy="2834640"/>
          </a:xfrm>
          <a:prstGeom prst="rect">
            <a:avLst/>
          </a:prstGeom>
          <a:solidFill>
            <a:srgbClr val="1A1A2E"/>
          </a:solidFill>
          <a:ln/>
        </p:spPr>
        <p:txBody>
          <a:bodyPr/>
          <a:lstStyle/>
          <a:p>
            <a:endParaRPr lang="tr-TR"/>
          </a:p>
        </p:txBody>
      </p:sp>
      <p:sp>
        <p:nvSpPr>
          <p:cNvPr id="9" name="Shape 6"/>
          <p:cNvSpPr/>
          <p:nvPr/>
        </p:nvSpPr>
        <p:spPr>
          <a:xfrm>
            <a:off x="6720840" y="1005840"/>
            <a:ext cx="54864" cy="2834640"/>
          </a:xfrm>
          <a:prstGeom prst="rect">
            <a:avLst/>
          </a:prstGeom>
          <a:solidFill>
            <a:srgbClr val="00B4D8"/>
          </a:solidFill>
          <a:ln/>
        </p:spPr>
        <p:txBody>
          <a:bodyPr/>
          <a:lstStyle/>
          <a:p>
            <a:endParaRPr lang="tr-TR"/>
          </a:p>
        </p:txBody>
      </p:sp>
      <p:sp>
        <p:nvSpPr>
          <p:cNvPr id="10" name="Text 7"/>
          <p:cNvSpPr/>
          <p:nvPr/>
        </p:nvSpPr>
        <p:spPr>
          <a:xfrm>
            <a:off x="6949440" y="1143000"/>
            <a:ext cx="4709160" cy="32004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How to Read the ROC Curve</a:t>
            </a:r>
            <a:endParaRPr lang="en-US" sz="1300" dirty="0"/>
          </a:p>
        </p:txBody>
      </p:sp>
      <p:sp>
        <p:nvSpPr>
          <p:cNvPr id="11" name="Text 8"/>
          <p:cNvSpPr/>
          <p:nvPr/>
        </p:nvSpPr>
        <p:spPr>
          <a:xfrm>
            <a:off x="6949440" y="1508760"/>
            <a:ext cx="4709160" cy="17373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ROC curve plots True Positive Rate (Veterans correctly caught) vs. False Positive Rate (Prospects mislabelled as Veterans) across all classification thresholds. A perfect model hugs the top-left corner. A random guess follows the diagonal dashed line (AUC = 0.50). The further a curve sits above the diagonal, the better the model.</a:t>
            </a:r>
            <a:endParaRPr lang="en-US" sz="1200" dirty="0"/>
          </a:p>
        </p:txBody>
      </p:sp>
      <p:sp>
        <p:nvSpPr>
          <p:cNvPr id="12" name="Text 9"/>
          <p:cNvSpPr/>
          <p:nvPr/>
        </p:nvSpPr>
        <p:spPr>
          <a:xfrm>
            <a:off x="6949440" y="3337560"/>
            <a:ext cx="4709160" cy="384048"/>
          </a:xfrm>
          <a:prstGeom prst="rect">
            <a:avLst/>
          </a:prstGeom>
          <a:noFill/>
          <a:ln/>
        </p:spPr>
        <p:txBody>
          <a:bodyPr wrap="square" rtlCol="0" anchor="ctr"/>
          <a:lstStyle/>
          <a:p>
            <a:pPr marL="0" indent="0">
              <a:buNone/>
            </a:pPr>
            <a:r>
              <a:rPr lang="en-US" sz="1150" i="1" dirty="0">
                <a:solidFill>
                  <a:srgbClr val="9BA4B5"/>
                </a:solidFill>
                <a:latin typeface="Calibri" pitchFamily="34" charset="0"/>
                <a:ea typeface="Calibri" pitchFamily="34" charset="-122"/>
                <a:cs typeface="Calibri" pitchFamily="34" charset="-120"/>
              </a:rPr>
              <a:t>Random Forest's green curve sits clearly above Logistic Regression's blue curve across the entire range — confirming it as the stronger model at every threshold.</a:t>
            </a:r>
            <a:endParaRPr lang="en-US" sz="1150" dirty="0"/>
          </a:p>
        </p:txBody>
      </p:sp>
      <p:sp>
        <p:nvSpPr>
          <p:cNvPr id="13" name="Shape 10"/>
          <p:cNvSpPr/>
          <p:nvPr/>
        </p:nvSpPr>
        <p:spPr>
          <a:xfrm>
            <a:off x="6720840" y="3886200"/>
            <a:ext cx="5120640" cy="2606040"/>
          </a:xfrm>
          <a:prstGeom prst="rect">
            <a:avLst/>
          </a:prstGeom>
          <a:solidFill>
            <a:srgbClr val="1A1A2E"/>
          </a:solidFill>
          <a:ln/>
        </p:spPr>
        <p:txBody>
          <a:bodyPr/>
          <a:lstStyle/>
          <a:p>
            <a:endParaRPr lang="tr-TR"/>
          </a:p>
        </p:txBody>
      </p:sp>
      <p:sp>
        <p:nvSpPr>
          <p:cNvPr id="14" name="Text 11"/>
          <p:cNvSpPr/>
          <p:nvPr/>
        </p:nvSpPr>
        <p:spPr>
          <a:xfrm>
            <a:off x="6949440" y="4005072"/>
            <a:ext cx="4892040" cy="274320"/>
          </a:xfrm>
          <a:prstGeom prst="rect">
            <a:avLst/>
          </a:prstGeom>
          <a:noFill/>
          <a:ln/>
        </p:spPr>
        <p:txBody>
          <a:bodyPr wrap="square" rtlCol="0" anchor="ctr"/>
          <a:lstStyle/>
          <a:p>
            <a:pPr marL="0" indent="0">
              <a:buNone/>
            </a:pPr>
            <a:r>
              <a:rPr lang="en-US" sz="1200" b="1" kern="0" spc="100" dirty="0">
                <a:solidFill>
                  <a:srgbClr val="00B4D8"/>
                </a:solidFill>
                <a:latin typeface="Calibri" pitchFamily="34" charset="0"/>
                <a:ea typeface="Calibri" pitchFamily="34" charset="-122"/>
                <a:cs typeface="Calibri" pitchFamily="34" charset="-120"/>
              </a:rPr>
              <a:t>PERFORMANCE SUMMARY</a:t>
            </a:r>
            <a:endParaRPr lang="en-US" sz="1200" dirty="0"/>
          </a:p>
        </p:txBody>
      </p:sp>
      <p:sp>
        <p:nvSpPr>
          <p:cNvPr id="15" name="Shape 12"/>
          <p:cNvSpPr/>
          <p:nvPr/>
        </p:nvSpPr>
        <p:spPr>
          <a:xfrm>
            <a:off x="6720840" y="4315968"/>
            <a:ext cx="5120640" cy="347472"/>
          </a:xfrm>
          <a:prstGeom prst="rect">
            <a:avLst/>
          </a:prstGeom>
          <a:solidFill>
            <a:srgbClr val="16213E"/>
          </a:solidFill>
          <a:ln/>
        </p:spPr>
        <p:txBody>
          <a:bodyPr/>
          <a:lstStyle/>
          <a:p>
            <a:endParaRPr lang="tr-TR"/>
          </a:p>
        </p:txBody>
      </p:sp>
      <p:sp>
        <p:nvSpPr>
          <p:cNvPr id="16" name="Text 13"/>
          <p:cNvSpPr/>
          <p:nvPr/>
        </p:nvSpPr>
        <p:spPr>
          <a:xfrm>
            <a:off x="6858000" y="4315968"/>
            <a:ext cx="1920240" cy="347472"/>
          </a:xfrm>
          <a:prstGeom prst="rect">
            <a:avLst/>
          </a:prstGeom>
          <a:noFill/>
          <a:ln/>
        </p:spPr>
        <p:txBody>
          <a:bodyPr wrap="square" rtlCol="0" anchor="ctr"/>
          <a:lstStyle/>
          <a:p>
            <a:pPr marL="0" indent="0">
              <a:buNone/>
            </a:pPr>
            <a:r>
              <a:rPr lang="en-US" sz="1100" b="1" dirty="0">
                <a:solidFill>
                  <a:srgbClr val="9BA4B5"/>
                </a:solidFill>
                <a:latin typeface="Calibri" pitchFamily="34" charset="0"/>
                <a:ea typeface="Calibri" pitchFamily="34" charset="-122"/>
                <a:cs typeface="Calibri" pitchFamily="34" charset="-120"/>
              </a:rPr>
              <a:t>METRIC</a:t>
            </a:r>
            <a:endParaRPr lang="en-US" sz="1100" dirty="0"/>
          </a:p>
        </p:txBody>
      </p:sp>
      <p:sp>
        <p:nvSpPr>
          <p:cNvPr id="17" name="Text 14"/>
          <p:cNvSpPr/>
          <p:nvPr/>
        </p:nvSpPr>
        <p:spPr>
          <a:xfrm>
            <a:off x="8778240" y="4315968"/>
            <a:ext cx="1463040" cy="347472"/>
          </a:xfrm>
          <a:prstGeom prst="rect">
            <a:avLst/>
          </a:prstGeom>
          <a:noFill/>
          <a:ln/>
        </p:spPr>
        <p:txBody>
          <a:bodyPr wrap="square" rtlCol="0" anchor="ctr"/>
          <a:lstStyle/>
          <a:p>
            <a:pPr marL="0" indent="0" algn="ctr">
              <a:buNone/>
            </a:pPr>
            <a:r>
              <a:rPr lang="en-US" sz="1100" b="1" dirty="0">
                <a:solidFill>
                  <a:srgbClr val="9BA4B5"/>
                </a:solidFill>
                <a:latin typeface="Calibri" pitchFamily="34" charset="0"/>
                <a:ea typeface="Calibri" pitchFamily="34" charset="-122"/>
                <a:cs typeface="Calibri" pitchFamily="34" charset="-120"/>
              </a:rPr>
              <a:t>LOG. REG.</a:t>
            </a:r>
            <a:endParaRPr lang="en-US" sz="1100" dirty="0"/>
          </a:p>
        </p:txBody>
      </p:sp>
      <p:sp>
        <p:nvSpPr>
          <p:cNvPr id="18" name="Text 15"/>
          <p:cNvSpPr/>
          <p:nvPr/>
        </p:nvSpPr>
        <p:spPr>
          <a:xfrm>
            <a:off x="10241280" y="4315968"/>
            <a:ext cx="1463040" cy="347472"/>
          </a:xfrm>
          <a:prstGeom prst="rect">
            <a:avLst/>
          </a:prstGeom>
          <a:noFill/>
          <a:ln/>
        </p:spPr>
        <p:txBody>
          <a:bodyPr wrap="square" rtlCol="0" anchor="ctr"/>
          <a:lstStyle/>
          <a:p>
            <a:pPr marL="0" indent="0" algn="ctr">
              <a:buNone/>
            </a:pPr>
            <a:r>
              <a:rPr lang="en-US" sz="1100" b="1" dirty="0">
                <a:solidFill>
                  <a:srgbClr val="9BA4B5"/>
                </a:solidFill>
                <a:latin typeface="Calibri" pitchFamily="34" charset="0"/>
                <a:ea typeface="Calibri" pitchFamily="34" charset="-122"/>
                <a:cs typeface="Calibri" pitchFamily="34" charset="-120"/>
              </a:rPr>
              <a:t>RANDOM FOREST</a:t>
            </a:r>
            <a:endParaRPr lang="en-US" sz="1100" dirty="0"/>
          </a:p>
        </p:txBody>
      </p:sp>
      <p:sp>
        <p:nvSpPr>
          <p:cNvPr id="19" name="Shape 16"/>
          <p:cNvSpPr/>
          <p:nvPr/>
        </p:nvSpPr>
        <p:spPr>
          <a:xfrm>
            <a:off x="6720840" y="4663440"/>
            <a:ext cx="5120640" cy="347472"/>
          </a:xfrm>
          <a:prstGeom prst="rect">
            <a:avLst/>
          </a:prstGeom>
          <a:solidFill>
            <a:srgbClr val="1A1A2E"/>
          </a:solidFill>
          <a:ln/>
        </p:spPr>
        <p:txBody>
          <a:bodyPr/>
          <a:lstStyle/>
          <a:p>
            <a:endParaRPr lang="tr-TR"/>
          </a:p>
        </p:txBody>
      </p:sp>
      <p:sp>
        <p:nvSpPr>
          <p:cNvPr id="20" name="Text 17"/>
          <p:cNvSpPr/>
          <p:nvPr/>
        </p:nvSpPr>
        <p:spPr>
          <a:xfrm>
            <a:off x="6858000" y="4663440"/>
            <a:ext cx="19202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Test Accuracy</a:t>
            </a:r>
            <a:endParaRPr lang="en-US" sz="1100" dirty="0"/>
          </a:p>
        </p:txBody>
      </p:sp>
      <p:sp>
        <p:nvSpPr>
          <p:cNvPr id="21" name="Text 18"/>
          <p:cNvSpPr/>
          <p:nvPr/>
        </p:nvSpPr>
        <p:spPr>
          <a:xfrm>
            <a:off x="8778240" y="4663440"/>
            <a:ext cx="1463040" cy="347472"/>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0.694</a:t>
            </a:r>
            <a:endParaRPr lang="en-US" sz="1100" dirty="0"/>
          </a:p>
        </p:txBody>
      </p:sp>
      <p:sp>
        <p:nvSpPr>
          <p:cNvPr id="22" name="Text 19"/>
          <p:cNvSpPr/>
          <p:nvPr/>
        </p:nvSpPr>
        <p:spPr>
          <a:xfrm>
            <a:off x="10241280" y="4663440"/>
            <a:ext cx="1463040" cy="347472"/>
          </a:xfrm>
          <a:prstGeom prst="rect">
            <a:avLst/>
          </a:prstGeom>
          <a:noFill/>
          <a:ln/>
        </p:spPr>
        <p:txBody>
          <a:bodyPr wrap="square" rtlCol="0" anchor="ctr"/>
          <a:lstStyle/>
          <a:p>
            <a:pPr marL="0" indent="0" algn="ctr">
              <a:buNone/>
            </a:pPr>
            <a:r>
              <a:rPr lang="en-US" sz="1100" b="1" dirty="0">
                <a:solidFill>
                  <a:srgbClr val="4CAF50"/>
                </a:solidFill>
                <a:latin typeface="Calibri" pitchFamily="34" charset="0"/>
                <a:ea typeface="Calibri" pitchFamily="34" charset="-122"/>
                <a:cs typeface="Calibri" pitchFamily="34" charset="-120"/>
              </a:rPr>
              <a:t>0.844</a:t>
            </a:r>
            <a:endParaRPr lang="en-US" sz="1100" dirty="0"/>
          </a:p>
        </p:txBody>
      </p:sp>
      <p:sp>
        <p:nvSpPr>
          <p:cNvPr id="23" name="Shape 20"/>
          <p:cNvSpPr/>
          <p:nvPr/>
        </p:nvSpPr>
        <p:spPr>
          <a:xfrm>
            <a:off x="6720840" y="5010912"/>
            <a:ext cx="5120640" cy="347472"/>
          </a:xfrm>
          <a:prstGeom prst="rect">
            <a:avLst/>
          </a:prstGeom>
          <a:solidFill>
            <a:srgbClr val="1E1E3A"/>
          </a:solidFill>
          <a:ln/>
        </p:spPr>
        <p:txBody>
          <a:bodyPr/>
          <a:lstStyle/>
          <a:p>
            <a:endParaRPr lang="tr-TR"/>
          </a:p>
        </p:txBody>
      </p:sp>
      <p:sp>
        <p:nvSpPr>
          <p:cNvPr id="24" name="Text 21"/>
          <p:cNvSpPr/>
          <p:nvPr/>
        </p:nvSpPr>
        <p:spPr>
          <a:xfrm>
            <a:off x="6858000" y="5010912"/>
            <a:ext cx="19202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 Score</a:t>
            </a:r>
            <a:endParaRPr lang="en-US" sz="1100" dirty="0"/>
          </a:p>
        </p:txBody>
      </p:sp>
      <p:sp>
        <p:nvSpPr>
          <p:cNvPr id="25" name="Text 22"/>
          <p:cNvSpPr/>
          <p:nvPr/>
        </p:nvSpPr>
        <p:spPr>
          <a:xfrm>
            <a:off x="8778240" y="5010912"/>
            <a:ext cx="1463040" cy="347472"/>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0.770</a:t>
            </a:r>
            <a:endParaRPr lang="en-US" sz="1100" dirty="0"/>
          </a:p>
        </p:txBody>
      </p:sp>
      <p:sp>
        <p:nvSpPr>
          <p:cNvPr id="26" name="Text 23"/>
          <p:cNvSpPr/>
          <p:nvPr/>
        </p:nvSpPr>
        <p:spPr>
          <a:xfrm>
            <a:off x="10241280" y="5010912"/>
            <a:ext cx="1463040" cy="347472"/>
          </a:xfrm>
          <a:prstGeom prst="rect">
            <a:avLst/>
          </a:prstGeom>
          <a:noFill/>
          <a:ln/>
        </p:spPr>
        <p:txBody>
          <a:bodyPr wrap="square" rtlCol="0" anchor="ctr"/>
          <a:lstStyle/>
          <a:p>
            <a:pPr marL="0" indent="0" algn="ctr">
              <a:buNone/>
            </a:pPr>
            <a:r>
              <a:rPr lang="en-US" sz="1100" b="1" dirty="0">
                <a:solidFill>
                  <a:srgbClr val="4CAF50"/>
                </a:solidFill>
                <a:latin typeface="Calibri" pitchFamily="34" charset="0"/>
                <a:ea typeface="Calibri" pitchFamily="34" charset="-122"/>
                <a:cs typeface="Calibri" pitchFamily="34" charset="-120"/>
              </a:rPr>
              <a:t>0.879</a:t>
            </a:r>
            <a:endParaRPr lang="en-US" sz="1100" dirty="0"/>
          </a:p>
        </p:txBody>
      </p:sp>
      <p:sp>
        <p:nvSpPr>
          <p:cNvPr id="27" name="Shape 24"/>
          <p:cNvSpPr/>
          <p:nvPr/>
        </p:nvSpPr>
        <p:spPr>
          <a:xfrm>
            <a:off x="6720840" y="5358384"/>
            <a:ext cx="5120640" cy="347472"/>
          </a:xfrm>
          <a:prstGeom prst="rect">
            <a:avLst/>
          </a:prstGeom>
          <a:solidFill>
            <a:srgbClr val="1A1A2E"/>
          </a:solidFill>
          <a:ln/>
        </p:spPr>
        <p:txBody>
          <a:bodyPr/>
          <a:lstStyle/>
          <a:p>
            <a:endParaRPr lang="tr-TR"/>
          </a:p>
        </p:txBody>
      </p:sp>
      <p:sp>
        <p:nvSpPr>
          <p:cNvPr id="28" name="Text 25"/>
          <p:cNvSpPr/>
          <p:nvPr/>
        </p:nvSpPr>
        <p:spPr>
          <a:xfrm>
            <a:off x="6858000" y="5358384"/>
            <a:ext cx="19202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5-Fold CV AUC</a:t>
            </a:r>
            <a:endParaRPr lang="en-US" sz="1100" dirty="0"/>
          </a:p>
        </p:txBody>
      </p:sp>
      <p:sp>
        <p:nvSpPr>
          <p:cNvPr id="29" name="Text 26"/>
          <p:cNvSpPr/>
          <p:nvPr/>
        </p:nvSpPr>
        <p:spPr>
          <a:xfrm>
            <a:off x="8778240" y="5358384"/>
            <a:ext cx="1463040" cy="347472"/>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0.756 ±0.029</a:t>
            </a:r>
            <a:endParaRPr lang="en-US" sz="1100" dirty="0"/>
          </a:p>
        </p:txBody>
      </p:sp>
      <p:sp>
        <p:nvSpPr>
          <p:cNvPr id="30" name="Text 27"/>
          <p:cNvSpPr/>
          <p:nvPr/>
        </p:nvSpPr>
        <p:spPr>
          <a:xfrm>
            <a:off x="10241280" y="5358384"/>
            <a:ext cx="1463040" cy="347472"/>
          </a:xfrm>
          <a:prstGeom prst="rect">
            <a:avLst/>
          </a:prstGeom>
          <a:noFill/>
          <a:ln/>
        </p:spPr>
        <p:txBody>
          <a:bodyPr wrap="square" rtlCol="0" anchor="ctr"/>
          <a:lstStyle/>
          <a:p>
            <a:pPr marL="0" indent="0" algn="ctr">
              <a:buNone/>
            </a:pPr>
            <a:r>
              <a:rPr lang="en-US" sz="1100" b="1" dirty="0">
                <a:solidFill>
                  <a:srgbClr val="4CAF50"/>
                </a:solidFill>
                <a:latin typeface="Calibri" pitchFamily="34" charset="0"/>
                <a:ea typeface="Calibri" pitchFamily="34" charset="-122"/>
                <a:cs typeface="Calibri" pitchFamily="34" charset="-120"/>
              </a:rPr>
              <a:t>0.872 ±0.029</a:t>
            </a:r>
            <a:endParaRPr lang="en-US" sz="1100" dirty="0"/>
          </a:p>
        </p:txBody>
      </p:sp>
      <p:sp>
        <p:nvSpPr>
          <p:cNvPr id="31" name="Shape 28"/>
          <p:cNvSpPr/>
          <p:nvPr/>
        </p:nvSpPr>
        <p:spPr>
          <a:xfrm>
            <a:off x="6720840" y="5705856"/>
            <a:ext cx="5120640" cy="347472"/>
          </a:xfrm>
          <a:prstGeom prst="rect">
            <a:avLst/>
          </a:prstGeom>
          <a:solidFill>
            <a:srgbClr val="1E1E3A"/>
          </a:solidFill>
          <a:ln/>
        </p:spPr>
        <p:txBody>
          <a:bodyPr/>
          <a:lstStyle/>
          <a:p>
            <a:endParaRPr lang="tr-TR"/>
          </a:p>
        </p:txBody>
      </p:sp>
      <p:sp>
        <p:nvSpPr>
          <p:cNvPr id="32" name="Text 29"/>
          <p:cNvSpPr/>
          <p:nvPr/>
        </p:nvSpPr>
        <p:spPr>
          <a:xfrm>
            <a:off x="6858000" y="5705856"/>
            <a:ext cx="19202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Veteran Recall</a:t>
            </a:r>
            <a:endParaRPr lang="en-US" sz="1100" dirty="0"/>
          </a:p>
        </p:txBody>
      </p:sp>
      <p:sp>
        <p:nvSpPr>
          <p:cNvPr id="33" name="Text 30"/>
          <p:cNvSpPr/>
          <p:nvPr/>
        </p:nvSpPr>
        <p:spPr>
          <a:xfrm>
            <a:off x="8778240" y="5705856"/>
            <a:ext cx="1463040" cy="347472"/>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75%</a:t>
            </a:r>
            <a:endParaRPr lang="en-US" sz="1100" dirty="0"/>
          </a:p>
        </p:txBody>
      </p:sp>
      <p:sp>
        <p:nvSpPr>
          <p:cNvPr id="34" name="Text 31"/>
          <p:cNvSpPr/>
          <p:nvPr/>
        </p:nvSpPr>
        <p:spPr>
          <a:xfrm>
            <a:off x="10241280" y="5705856"/>
            <a:ext cx="1463040" cy="347472"/>
          </a:xfrm>
          <a:prstGeom prst="rect">
            <a:avLst/>
          </a:prstGeom>
          <a:noFill/>
          <a:ln/>
        </p:spPr>
        <p:txBody>
          <a:bodyPr wrap="square" rtlCol="0" anchor="ctr"/>
          <a:lstStyle/>
          <a:p>
            <a:pPr marL="0" indent="0" algn="ctr">
              <a:buNone/>
            </a:pPr>
            <a:r>
              <a:rPr lang="en-US" sz="1100" b="1" dirty="0">
                <a:solidFill>
                  <a:srgbClr val="4CAF50"/>
                </a:solidFill>
                <a:latin typeface="Calibri" pitchFamily="34" charset="0"/>
                <a:ea typeface="Calibri" pitchFamily="34" charset="-122"/>
                <a:cs typeface="Calibri" pitchFamily="34" charset="-120"/>
              </a:rPr>
              <a:t>69%</a:t>
            </a:r>
            <a:endParaRPr lang="en-US" sz="1100" dirty="0"/>
          </a:p>
        </p:txBody>
      </p:sp>
      <p:sp>
        <p:nvSpPr>
          <p:cNvPr id="35" name="Shape 32"/>
          <p:cNvSpPr/>
          <p:nvPr/>
        </p:nvSpPr>
        <p:spPr>
          <a:xfrm>
            <a:off x="6720840" y="6053328"/>
            <a:ext cx="5120640" cy="347472"/>
          </a:xfrm>
          <a:prstGeom prst="rect">
            <a:avLst/>
          </a:prstGeom>
          <a:solidFill>
            <a:srgbClr val="1A1A2E"/>
          </a:solidFill>
          <a:ln/>
        </p:spPr>
        <p:txBody>
          <a:bodyPr/>
          <a:lstStyle/>
          <a:p>
            <a:endParaRPr lang="tr-TR"/>
          </a:p>
        </p:txBody>
      </p:sp>
      <p:sp>
        <p:nvSpPr>
          <p:cNvPr id="36" name="Text 33"/>
          <p:cNvSpPr/>
          <p:nvPr/>
        </p:nvSpPr>
        <p:spPr>
          <a:xfrm>
            <a:off x="6858000" y="6053328"/>
            <a:ext cx="19202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Precision</a:t>
            </a:r>
            <a:endParaRPr lang="en-US" sz="1100" dirty="0"/>
          </a:p>
        </p:txBody>
      </p:sp>
      <p:sp>
        <p:nvSpPr>
          <p:cNvPr id="37" name="Text 34"/>
          <p:cNvSpPr/>
          <p:nvPr/>
        </p:nvSpPr>
        <p:spPr>
          <a:xfrm>
            <a:off x="8778240" y="6053328"/>
            <a:ext cx="1463040" cy="347472"/>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30%</a:t>
            </a:r>
            <a:endParaRPr lang="en-US" sz="1100" dirty="0"/>
          </a:p>
        </p:txBody>
      </p:sp>
      <p:sp>
        <p:nvSpPr>
          <p:cNvPr id="38" name="Text 35"/>
          <p:cNvSpPr/>
          <p:nvPr/>
        </p:nvSpPr>
        <p:spPr>
          <a:xfrm>
            <a:off x="10241280" y="6053328"/>
            <a:ext cx="1463040" cy="347472"/>
          </a:xfrm>
          <a:prstGeom prst="rect">
            <a:avLst/>
          </a:prstGeom>
          <a:noFill/>
          <a:ln/>
        </p:spPr>
        <p:txBody>
          <a:bodyPr wrap="square" rtlCol="0" anchor="ctr"/>
          <a:lstStyle/>
          <a:p>
            <a:pPr marL="0" indent="0" algn="ctr">
              <a:buNone/>
            </a:pPr>
            <a:r>
              <a:rPr lang="en-US" sz="1100" b="1" dirty="0">
                <a:solidFill>
                  <a:srgbClr val="4CAF5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16213E"/>
          </a:solidFill>
          <a:ln/>
        </p:spPr>
        <p:txBody>
          <a:bodyPr/>
          <a:lstStyle/>
          <a:p>
            <a:endParaRPr lang="tr-TR"/>
          </a:p>
        </p:txBody>
      </p:sp>
      <p:sp>
        <p:nvSpPr>
          <p:cNvPr id="3" name="Shape 1"/>
          <p:cNvSpPr/>
          <p:nvPr/>
        </p:nvSpPr>
        <p:spPr>
          <a:xfrm>
            <a:off x="365760" y="137160"/>
            <a:ext cx="54864" cy="594360"/>
          </a:xfrm>
          <a:prstGeom prst="rect">
            <a:avLst/>
          </a:prstGeom>
          <a:solidFill>
            <a:srgbClr val="E63946"/>
          </a:solidFill>
          <a:ln/>
        </p:spPr>
        <p:txBody>
          <a:bodyPr/>
          <a:lstStyle/>
          <a:p>
            <a:endParaRPr lang="tr-TR"/>
          </a:p>
        </p:txBody>
      </p:sp>
      <p:sp>
        <p:nvSpPr>
          <p:cNvPr id="4" name="Text 2"/>
          <p:cNvSpPr/>
          <p:nvPr/>
        </p:nvSpPr>
        <p:spPr>
          <a:xfrm>
            <a:off x="548640" y="137160"/>
            <a:ext cx="100584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Arial Black" pitchFamily="34" charset="0"/>
                <a:ea typeface="Arial Black" pitchFamily="34" charset="-122"/>
                <a:cs typeface="Arial Black" pitchFamily="34" charset="-120"/>
              </a:rPr>
              <a:t>KEY FINDINGS &amp; CONCLUSION</a:t>
            </a:r>
            <a:endParaRPr lang="en-US" sz="2600" dirty="0"/>
          </a:p>
        </p:txBody>
      </p:sp>
      <p:sp>
        <p:nvSpPr>
          <p:cNvPr id="5" name="Text 3"/>
          <p:cNvSpPr/>
          <p:nvPr/>
        </p:nvSpPr>
        <p:spPr>
          <a:xfrm>
            <a:off x="10698480" y="274320"/>
            <a:ext cx="1280160" cy="320040"/>
          </a:xfrm>
          <a:prstGeom prst="rect">
            <a:avLst/>
          </a:prstGeom>
          <a:noFill/>
          <a:ln/>
        </p:spPr>
        <p:txBody>
          <a:bodyPr wrap="square" rtlCol="0" anchor="ctr"/>
          <a:lstStyle/>
          <a:p>
            <a:pPr marL="0" indent="0" algn="r">
              <a:buNone/>
            </a:pPr>
            <a:r>
              <a:rPr lang="en-US" sz="1000" dirty="0">
                <a:solidFill>
                  <a:srgbClr val="9BA4B5"/>
                </a:solidFill>
                <a:latin typeface="Calibri" pitchFamily="34" charset="0"/>
                <a:ea typeface="Calibri" pitchFamily="34" charset="-122"/>
                <a:cs typeface="Calibri" pitchFamily="34" charset="-120"/>
              </a:rPr>
              <a:t>18 / 19</a:t>
            </a:r>
            <a:endParaRPr lang="en-US" sz="1000" dirty="0"/>
          </a:p>
        </p:txBody>
      </p:sp>
      <p:sp>
        <p:nvSpPr>
          <p:cNvPr id="6" name="Shape 4"/>
          <p:cNvSpPr/>
          <p:nvPr/>
        </p:nvSpPr>
        <p:spPr>
          <a:xfrm>
            <a:off x="365760" y="1005840"/>
            <a:ext cx="5577840" cy="1664208"/>
          </a:xfrm>
          <a:prstGeom prst="rect">
            <a:avLst/>
          </a:prstGeom>
          <a:solidFill>
            <a:srgbClr val="1A1A2E"/>
          </a:solidFill>
          <a:ln/>
        </p:spPr>
        <p:txBody>
          <a:bodyPr/>
          <a:lstStyle/>
          <a:p>
            <a:endParaRPr lang="tr-TR"/>
          </a:p>
        </p:txBody>
      </p:sp>
      <p:sp>
        <p:nvSpPr>
          <p:cNvPr id="7" name="Shape 5"/>
          <p:cNvSpPr/>
          <p:nvPr/>
        </p:nvSpPr>
        <p:spPr>
          <a:xfrm>
            <a:off x="365760" y="1005840"/>
            <a:ext cx="54864" cy="1664208"/>
          </a:xfrm>
          <a:prstGeom prst="rect">
            <a:avLst/>
          </a:prstGeom>
          <a:solidFill>
            <a:srgbClr val="00B4D8"/>
          </a:solidFill>
          <a:ln/>
        </p:spPr>
        <p:txBody>
          <a:bodyPr/>
          <a:lstStyle/>
          <a:p>
            <a:endParaRPr lang="tr-TR"/>
          </a:p>
        </p:txBody>
      </p:sp>
      <p:sp>
        <p:nvSpPr>
          <p:cNvPr id="8" name="Text 6"/>
          <p:cNvSpPr/>
          <p:nvPr/>
        </p:nvSpPr>
        <p:spPr>
          <a:xfrm>
            <a:off x="548640" y="1097280"/>
            <a:ext cx="731520" cy="320040"/>
          </a:xfrm>
          <a:prstGeom prst="rect">
            <a:avLst/>
          </a:prstGeom>
          <a:noFill/>
          <a:ln/>
        </p:spPr>
        <p:txBody>
          <a:bodyPr wrap="square" rtlCol="0" anchor="ctr"/>
          <a:lstStyle/>
          <a:p>
            <a:pPr marL="0" indent="0">
              <a:buNone/>
            </a:pPr>
            <a:r>
              <a:rPr lang="en-US" sz="1600" b="1" dirty="0">
                <a:solidFill>
                  <a:srgbClr val="00B4D8"/>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325880" y="1097280"/>
            <a:ext cx="4389120" cy="347472"/>
          </a:xfrm>
          <a:prstGeom prst="rect">
            <a:avLst/>
          </a:prstGeom>
          <a:noFill/>
          <a:ln/>
        </p:spPr>
        <p:txBody>
          <a:bodyPr wrap="square" rtlCol="0" anchor="ctr"/>
          <a:lstStyle/>
          <a:p>
            <a:pPr marL="0" indent="0">
              <a:buNone/>
            </a:pPr>
            <a:r>
              <a:rPr lang="en-US" sz="1250" b="1" dirty="0">
                <a:solidFill>
                  <a:srgbClr val="00B4D8"/>
                </a:solidFill>
                <a:latin typeface="Calibri" pitchFamily="34" charset="0"/>
                <a:ea typeface="Calibri" pitchFamily="34" charset="-122"/>
                <a:cs typeface="Calibri" pitchFamily="34" charset="-120"/>
              </a:rPr>
              <a:t>Short-term: Grappling ≠ decisive</a:t>
            </a:r>
            <a:endParaRPr lang="en-US" sz="1250" dirty="0"/>
          </a:p>
        </p:txBody>
      </p:sp>
      <p:sp>
        <p:nvSpPr>
          <p:cNvPr id="10" name="Text 8"/>
          <p:cNvSpPr/>
          <p:nvPr/>
        </p:nvSpPr>
        <p:spPr>
          <a:xfrm>
            <a:off x="548640" y="1536192"/>
            <a:ext cx="516636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t-test returned p=0.6289 — far above α=0.05. At the individual fight level, above-median takedown accuracy does NOT produce a significantly higher win rate. H₀ cannot be rejected.</a:t>
            </a:r>
            <a:endParaRPr lang="en-US" sz="1150" dirty="0"/>
          </a:p>
        </p:txBody>
      </p:sp>
      <p:sp>
        <p:nvSpPr>
          <p:cNvPr id="11" name="Shape 9"/>
          <p:cNvSpPr/>
          <p:nvPr/>
        </p:nvSpPr>
        <p:spPr>
          <a:xfrm>
            <a:off x="365760" y="2834640"/>
            <a:ext cx="5577840" cy="1664208"/>
          </a:xfrm>
          <a:prstGeom prst="rect">
            <a:avLst/>
          </a:prstGeom>
          <a:solidFill>
            <a:srgbClr val="1A1A2E"/>
          </a:solidFill>
          <a:ln/>
        </p:spPr>
        <p:txBody>
          <a:bodyPr/>
          <a:lstStyle/>
          <a:p>
            <a:endParaRPr lang="tr-TR"/>
          </a:p>
        </p:txBody>
      </p:sp>
      <p:sp>
        <p:nvSpPr>
          <p:cNvPr id="12" name="Shape 10"/>
          <p:cNvSpPr/>
          <p:nvPr/>
        </p:nvSpPr>
        <p:spPr>
          <a:xfrm>
            <a:off x="365760" y="2834640"/>
            <a:ext cx="54864" cy="1664208"/>
          </a:xfrm>
          <a:prstGeom prst="rect">
            <a:avLst/>
          </a:prstGeom>
          <a:solidFill>
            <a:srgbClr val="4CAF50"/>
          </a:solidFill>
          <a:ln/>
        </p:spPr>
        <p:txBody>
          <a:bodyPr/>
          <a:lstStyle/>
          <a:p>
            <a:endParaRPr lang="tr-TR"/>
          </a:p>
        </p:txBody>
      </p:sp>
      <p:sp>
        <p:nvSpPr>
          <p:cNvPr id="13" name="Text 11"/>
          <p:cNvSpPr/>
          <p:nvPr/>
        </p:nvSpPr>
        <p:spPr>
          <a:xfrm>
            <a:off x="548640" y="2926080"/>
            <a:ext cx="731520" cy="320040"/>
          </a:xfrm>
          <a:prstGeom prst="rect">
            <a:avLst/>
          </a:prstGeom>
          <a:noFill/>
          <a:ln/>
        </p:spPr>
        <p:txBody>
          <a:bodyPr wrap="square" rtlCol="0" anchor="ctr"/>
          <a:lstStyle/>
          <a:p>
            <a:pPr marL="0" indent="0">
              <a:buNone/>
            </a:pPr>
            <a:r>
              <a:rPr lang="en-US" sz="1600" b="1" dirty="0">
                <a:solidFill>
                  <a:srgbClr val="4CAF50"/>
                </a:solidFill>
                <a:latin typeface="Arial Black" pitchFamily="34" charset="0"/>
                <a:ea typeface="Arial Black" pitchFamily="34" charset="-122"/>
                <a:cs typeface="Arial Black" pitchFamily="34" charset="-120"/>
              </a:rPr>
              <a:t>#02</a:t>
            </a:r>
            <a:endParaRPr lang="en-US" sz="1600" dirty="0"/>
          </a:p>
        </p:txBody>
      </p:sp>
      <p:sp>
        <p:nvSpPr>
          <p:cNvPr id="14" name="Text 12"/>
          <p:cNvSpPr/>
          <p:nvPr/>
        </p:nvSpPr>
        <p:spPr>
          <a:xfrm>
            <a:off x="1325880" y="2926080"/>
            <a:ext cx="4389120" cy="347472"/>
          </a:xfrm>
          <a:prstGeom prst="rect">
            <a:avLst/>
          </a:prstGeom>
          <a:noFill/>
          <a:ln/>
        </p:spPr>
        <p:txBody>
          <a:bodyPr wrap="square" rtlCol="0" anchor="ctr"/>
          <a:lstStyle/>
          <a:p>
            <a:pPr marL="0" indent="0">
              <a:buNone/>
            </a:pPr>
            <a:r>
              <a:rPr lang="en-US" sz="1250" b="1" dirty="0">
                <a:solidFill>
                  <a:srgbClr val="4CAF50"/>
                </a:solidFill>
                <a:latin typeface="Calibri" pitchFamily="34" charset="0"/>
                <a:ea typeface="Calibri" pitchFamily="34" charset="-122"/>
                <a:cs typeface="Calibri" pitchFamily="34" charset="-120"/>
              </a:rPr>
              <a:t>Long-term: Grappling dominates</a:t>
            </a:r>
            <a:endParaRPr lang="en-US" sz="1250" dirty="0"/>
          </a:p>
        </p:txBody>
      </p:sp>
      <p:sp>
        <p:nvSpPr>
          <p:cNvPr id="15" name="Text 13"/>
          <p:cNvSpPr/>
          <p:nvPr/>
        </p:nvSpPr>
        <p:spPr>
          <a:xfrm>
            <a:off x="548640" y="3364992"/>
            <a:ext cx="516636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Grappling metrics account for 56.2% of total feature importance in the Random Forest. TD_Acc alone (~14.5%) is the single most powerful predictor of career longevity.</a:t>
            </a:r>
            <a:endParaRPr lang="en-US" sz="1150" dirty="0"/>
          </a:p>
        </p:txBody>
      </p:sp>
      <p:sp>
        <p:nvSpPr>
          <p:cNvPr id="16" name="Shape 14"/>
          <p:cNvSpPr/>
          <p:nvPr/>
        </p:nvSpPr>
        <p:spPr>
          <a:xfrm>
            <a:off x="365760" y="4663440"/>
            <a:ext cx="5577840" cy="1664208"/>
          </a:xfrm>
          <a:prstGeom prst="rect">
            <a:avLst/>
          </a:prstGeom>
          <a:solidFill>
            <a:srgbClr val="1A1A2E"/>
          </a:solidFill>
          <a:ln/>
        </p:spPr>
        <p:txBody>
          <a:bodyPr/>
          <a:lstStyle/>
          <a:p>
            <a:endParaRPr lang="tr-TR"/>
          </a:p>
        </p:txBody>
      </p:sp>
      <p:sp>
        <p:nvSpPr>
          <p:cNvPr id="17" name="Shape 15"/>
          <p:cNvSpPr/>
          <p:nvPr/>
        </p:nvSpPr>
        <p:spPr>
          <a:xfrm>
            <a:off x="365760" y="4663440"/>
            <a:ext cx="54864" cy="1664208"/>
          </a:xfrm>
          <a:prstGeom prst="rect">
            <a:avLst/>
          </a:prstGeom>
          <a:solidFill>
            <a:srgbClr val="FFB703"/>
          </a:solidFill>
          <a:ln/>
        </p:spPr>
        <p:txBody>
          <a:bodyPr/>
          <a:lstStyle/>
          <a:p>
            <a:endParaRPr lang="tr-TR"/>
          </a:p>
        </p:txBody>
      </p:sp>
      <p:sp>
        <p:nvSpPr>
          <p:cNvPr id="18" name="Text 16"/>
          <p:cNvSpPr/>
          <p:nvPr/>
        </p:nvSpPr>
        <p:spPr>
          <a:xfrm>
            <a:off x="548640" y="4754880"/>
            <a:ext cx="731520" cy="320040"/>
          </a:xfrm>
          <a:prstGeom prst="rect">
            <a:avLst/>
          </a:prstGeom>
          <a:noFill/>
          <a:ln/>
        </p:spPr>
        <p:txBody>
          <a:bodyPr wrap="square" rtlCol="0" anchor="ctr"/>
          <a:lstStyle/>
          <a:p>
            <a:pPr marL="0" indent="0">
              <a:buNone/>
            </a:pPr>
            <a:r>
              <a:rPr lang="en-US" sz="1600" b="1" dirty="0">
                <a:solidFill>
                  <a:srgbClr val="FFB703"/>
                </a:solidFill>
                <a:latin typeface="Arial Black" pitchFamily="34" charset="0"/>
                <a:ea typeface="Arial Black" pitchFamily="34" charset="-122"/>
                <a:cs typeface="Arial Black" pitchFamily="34" charset="-120"/>
              </a:rPr>
              <a:t>#03</a:t>
            </a:r>
            <a:endParaRPr lang="en-US" sz="1600" dirty="0"/>
          </a:p>
        </p:txBody>
      </p:sp>
      <p:sp>
        <p:nvSpPr>
          <p:cNvPr id="19" name="Text 17"/>
          <p:cNvSpPr/>
          <p:nvPr/>
        </p:nvSpPr>
        <p:spPr>
          <a:xfrm>
            <a:off x="1325880" y="4754880"/>
            <a:ext cx="4389120" cy="347472"/>
          </a:xfrm>
          <a:prstGeom prst="rect">
            <a:avLst/>
          </a:prstGeom>
          <a:noFill/>
          <a:ln/>
        </p:spPr>
        <p:txBody>
          <a:bodyPr wrap="square" rtlCol="0" anchor="ctr"/>
          <a:lstStyle/>
          <a:p>
            <a:pPr marL="0" indent="0">
              <a:buNone/>
            </a:pPr>
            <a:r>
              <a:rPr lang="en-US" sz="1250" b="1" dirty="0">
                <a:solidFill>
                  <a:srgbClr val="FFB703"/>
                </a:solidFill>
                <a:latin typeface="Calibri" pitchFamily="34" charset="0"/>
                <a:ea typeface="Calibri" pitchFamily="34" charset="-122"/>
                <a:cs typeface="Calibri" pitchFamily="34" charset="-120"/>
              </a:rPr>
              <a:t>Grapplers outlast strikers 2.5×</a:t>
            </a:r>
            <a:endParaRPr lang="en-US" sz="1250" dirty="0"/>
          </a:p>
        </p:txBody>
      </p:sp>
      <p:sp>
        <p:nvSpPr>
          <p:cNvPr id="20" name="Text 18"/>
          <p:cNvSpPr/>
          <p:nvPr/>
        </p:nvSpPr>
        <p:spPr>
          <a:xfrm>
            <a:off x="548640" y="5193792"/>
            <a:ext cx="516636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Grappler-Dominant fighters reach Veteran status at 22.6% vs. 8.9% for Striker-Dominant. Independently confirmed by K-Means clustering without any supervision.</a:t>
            </a:r>
            <a:endParaRPr lang="en-US" sz="1150" dirty="0"/>
          </a:p>
        </p:txBody>
      </p:sp>
      <p:sp>
        <p:nvSpPr>
          <p:cNvPr id="21" name="Shape 19"/>
          <p:cNvSpPr/>
          <p:nvPr/>
        </p:nvSpPr>
        <p:spPr>
          <a:xfrm>
            <a:off x="6172200" y="1005840"/>
            <a:ext cx="5577840" cy="1664208"/>
          </a:xfrm>
          <a:prstGeom prst="rect">
            <a:avLst/>
          </a:prstGeom>
          <a:solidFill>
            <a:srgbClr val="1A1A2E"/>
          </a:solidFill>
          <a:ln/>
        </p:spPr>
        <p:txBody>
          <a:bodyPr/>
          <a:lstStyle/>
          <a:p>
            <a:endParaRPr lang="tr-TR"/>
          </a:p>
        </p:txBody>
      </p:sp>
      <p:sp>
        <p:nvSpPr>
          <p:cNvPr id="22" name="Shape 20"/>
          <p:cNvSpPr/>
          <p:nvPr/>
        </p:nvSpPr>
        <p:spPr>
          <a:xfrm>
            <a:off x="6172200" y="1005840"/>
            <a:ext cx="54864" cy="1664208"/>
          </a:xfrm>
          <a:prstGeom prst="rect">
            <a:avLst/>
          </a:prstGeom>
          <a:solidFill>
            <a:srgbClr val="E63946"/>
          </a:solidFill>
          <a:ln/>
        </p:spPr>
        <p:txBody>
          <a:bodyPr/>
          <a:lstStyle/>
          <a:p>
            <a:endParaRPr lang="tr-TR"/>
          </a:p>
        </p:txBody>
      </p:sp>
      <p:sp>
        <p:nvSpPr>
          <p:cNvPr id="23" name="Text 21"/>
          <p:cNvSpPr/>
          <p:nvPr/>
        </p:nvSpPr>
        <p:spPr>
          <a:xfrm>
            <a:off x="6355080" y="1097280"/>
            <a:ext cx="731520" cy="320040"/>
          </a:xfrm>
          <a:prstGeom prst="rect">
            <a:avLst/>
          </a:prstGeom>
          <a:noFill/>
          <a:ln/>
        </p:spPr>
        <p:txBody>
          <a:bodyPr wrap="square" rtlCol="0" anchor="ctr"/>
          <a:lstStyle/>
          <a:p>
            <a:pPr marL="0" indent="0">
              <a:buNone/>
            </a:pPr>
            <a:r>
              <a:rPr lang="en-US" sz="1600" b="1" dirty="0">
                <a:solidFill>
                  <a:srgbClr val="E63946"/>
                </a:solidFill>
                <a:latin typeface="Arial Black" pitchFamily="34" charset="0"/>
                <a:ea typeface="Arial Black" pitchFamily="34" charset="-122"/>
                <a:cs typeface="Arial Black" pitchFamily="34" charset="-120"/>
              </a:rPr>
              <a:t>#04</a:t>
            </a:r>
            <a:endParaRPr lang="en-US" sz="1600" dirty="0"/>
          </a:p>
        </p:txBody>
      </p:sp>
      <p:sp>
        <p:nvSpPr>
          <p:cNvPr id="24" name="Text 22"/>
          <p:cNvSpPr/>
          <p:nvPr/>
        </p:nvSpPr>
        <p:spPr>
          <a:xfrm>
            <a:off x="7132320" y="1097280"/>
            <a:ext cx="4389120" cy="34747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Defence is the real differentiator</a:t>
            </a:r>
            <a:endParaRPr lang="en-US" sz="1250" dirty="0"/>
          </a:p>
        </p:txBody>
      </p:sp>
      <p:sp>
        <p:nvSpPr>
          <p:cNvPr id="25" name="Text 23"/>
          <p:cNvSpPr/>
          <p:nvPr/>
        </p:nvSpPr>
        <p:spPr>
          <a:xfrm>
            <a:off x="6355080" y="1536192"/>
            <a:ext cx="516636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TD_Def and Str_Def rank among the top predictors across all models. The ability to absorb and neutralise attacks matters more than offensive output for career sustainability.</a:t>
            </a:r>
            <a:endParaRPr lang="en-US" sz="1150" dirty="0"/>
          </a:p>
        </p:txBody>
      </p:sp>
      <p:sp>
        <p:nvSpPr>
          <p:cNvPr id="26" name="Shape 24"/>
          <p:cNvSpPr/>
          <p:nvPr/>
        </p:nvSpPr>
        <p:spPr>
          <a:xfrm>
            <a:off x="6172200" y="2834640"/>
            <a:ext cx="5577840" cy="1664208"/>
          </a:xfrm>
          <a:prstGeom prst="rect">
            <a:avLst/>
          </a:prstGeom>
          <a:solidFill>
            <a:srgbClr val="1A1A2E"/>
          </a:solidFill>
          <a:ln/>
        </p:spPr>
        <p:txBody>
          <a:bodyPr/>
          <a:lstStyle/>
          <a:p>
            <a:endParaRPr lang="tr-TR"/>
          </a:p>
        </p:txBody>
      </p:sp>
      <p:sp>
        <p:nvSpPr>
          <p:cNvPr id="27" name="Shape 25"/>
          <p:cNvSpPr/>
          <p:nvPr/>
        </p:nvSpPr>
        <p:spPr>
          <a:xfrm>
            <a:off x="6172200" y="2834640"/>
            <a:ext cx="54864" cy="1664208"/>
          </a:xfrm>
          <a:prstGeom prst="rect">
            <a:avLst/>
          </a:prstGeom>
          <a:solidFill>
            <a:srgbClr val="E0A9FF"/>
          </a:solidFill>
          <a:ln/>
        </p:spPr>
        <p:txBody>
          <a:bodyPr/>
          <a:lstStyle/>
          <a:p>
            <a:endParaRPr lang="tr-TR"/>
          </a:p>
        </p:txBody>
      </p:sp>
      <p:sp>
        <p:nvSpPr>
          <p:cNvPr id="28" name="Text 26"/>
          <p:cNvSpPr/>
          <p:nvPr/>
        </p:nvSpPr>
        <p:spPr>
          <a:xfrm>
            <a:off x="6355080" y="2926080"/>
            <a:ext cx="731520" cy="320040"/>
          </a:xfrm>
          <a:prstGeom prst="rect">
            <a:avLst/>
          </a:prstGeom>
          <a:noFill/>
          <a:ln/>
        </p:spPr>
        <p:txBody>
          <a:bodyPr wrap="square" rtlCol="0" anchor="ctr"/>
          <a:lstStyle/>
          <a:p>
            <a:pPr marL="0" indent="0">
              <a:buNone/>
            </a:pPr>
            <a:r>
              <a:rPr lang="en-US" sz="1600" b="1" dirty="0">
                <a:solidFill>
                  <a:srgbClr val="E0A9FF"/>
                </a:solidFill>
                <a:latin typeface="Arial Black" pitchFamily="34" charset="0"/>
                <a:ea typeface="Arial Black" pitchFamily="34" charset="-122"/>
                <a:cs typeface="Arial Black" pitchFamily="34" charset="-120"/>
              </a:rPr>
              <a:t>#05</a:t>
            </a:r>
            <a:endParaRPr lang="en-US" sz="1600" dirty="0"/>
          </a:p>
        </p:txBody>
      </p:sp>
      <p:sp>
        <p:nvSpPr>
          <p:cNvPr id="29" name="Text 27"/>
          <p:cNvSpPr/>
          <p:nvPr/>
        </p:nvSpPr>
        <p:spPr>
          <a:xfrm>
            <a:off x="7132320" y="2926080"/>
            <a:ext cx="4389120" cy="347472"/>
          </a:xfrm>
          <a:prstGeom prst="rect">
            <a:avLst/>
          </a:prstGeom>
          <a:noFill/>
          <a:ln/>
        </p:spPr>
        <p:txBody>
          <a:bodyPr wrap="square" rtlCol="0" anchor="ctr"/>
          <a:lstStyle/>
          <a:p>
            <a:pPr marL="0" indent="0">
              <a:buNone/>
            </a:pPr>
            <a:r>
              <a:rPr lang="en-US" sz="1250" b="1" dirty="0">
                <a:solidFill>
                  <a:srgbClr val="E0A9FF"/>
                </a:solidFill>
                <a:latin typeface="Calibri" pitchFamily="34" charset="0"/>
                <a:ea typeface="Calibri" pitchFamily="34" charset="-122"/>
                <a:cs typeface="Calibri" pitchFamily="34" charset="-120"/>
              </a:rPr>
              <a:t>Model stability confirmed</a:t>
            </a:r>
            <a:endParaRPr lang="en-US" sz="1250" dirty="0"/>
          </a:p>
        </p:txBody>
      </p:sp>
      <p:sp>
        <p:nvSpPr>
          <p:cNvPr id="30" name="Text 28"/>
          <p:cNvSpPr/>
          <p:nvPr/>
        </p:nvSpPr>
        <p:spPr>
          <a:xfrm>
            <a:off x="6355080" y="3364992"/>
            <a:ext cx="5166360" cy="10058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CV standard deviations of ±0.029 for both models confirm the results are stable, generalisable, and not artefacts of any particular train/test split.</a:t>
            </a:r>
            <a:endParaRPr lang="en-US" sz="1150" dirty="0"/>
          </a:p>
        </p:txBody>
      </p:sp>
      <p:sp>
        <p:nvSpPr>
          <p:cNvPr id="31" name="Shape 29"/>
          <p:cNvSpPr/>
          <p:nvPr/>
        </p:nvSpPr>
        <p:spPr>
          <a:xfrm>
            <a:off x="365760" y="6473952"/>
            <a:ext cx="11475720" cy="292608"/>
          </a:xfrm>
          <a:prstGeom prst="rect">
            <a:avLst/>
          </a:prstGeom>
          <a:solidFill>
            <a:srgbClr val="1A1A2E"/>
          </a:solidFill>
          <a:ln w="12700">
            <a:solidFill>
              <a:srgbClr val="E63946"/>
            </a:solidFill>
            <a:prstDash val="solid"/>
          </a:ln>
        </p:spPr>
        <p:txBody>
          <a:bodyPr/>
          <a:lstStyle/>
          <a:p>
            <a:endParaRPr lang="tr-TR"/>
          </a:p>
        </p:txBody>
      </p:sp>
      <p:sp>
        <p:nvSpPr>
          <p:cNvPr id="32" name="Text 30"/>
          <p:cNvSpPr/>
          <p:nvPr/>
        </p:nvSpPr>
        <p:spPr>
          <a:xfrm>
            <a:off x="365760" y="6473952"/>
            <a:ext cx="11475720" cy="292608"/>
          </a:xfrm>
          <a:prstGeom prst="rect">
            <a:avLst/>
          </a:prstGeom>
          <a:noFill/>
          <a:ln/>
        </p:spPr>
        <p:txBody>
          <a:bodyPr wrap="square" rtlCol="0" anchor="ctr"/>
          <a:lstStyle/>
          <a:p>
            <a:pPr marL="0" indent="0" algn="ctr">
              <a:buNone/>
            </a:pPr>
            <a:r>
              <a:rPr lang="en-US" sz="1050" b="1" i="1" dirty="0">
                <a:solidFill>
                  <a:srgbClr val="FFFFFF"/>
                </a:solidFill>
                <a:latin typeface="Calibri" pitchFamily="34" charset="0"/>
                <a:ea typeface="Calibri" pitchFamily="34" charset="-122"/>
                <a:cs typeface="Calibri" pitchFamily="34" charset="-120"/>
              </a:rPr>
              <a:t>The Nuanced Reality: Grappling may not win you every single fight — but it keeps you in the sport. Success is a marathon, not a sprint.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57200" y="1097280"/>
            <a:ext cx="6858000" cy="1097280"/>
          </a:xfrm>
          <a:prstGeom prst="rect">
            <a:avLst/>
          </a:prstGeom>
          <a:noFill/>
          <a:ln/>
        </p:spPr>
        <p:txBody>
          <a:bodyPr wrap="square"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THANK YOU FOR LISTENING</a:t>
            </a:r>
            <a:endParaRPr lang="en-US" sz="3600" dirty="0"/>
          </a:p>
        </p:txBody>
      </p:sp>
      <p:sp>
        <p:nvSpPr>
          <p:cNvPr id="3" name="Shape 1"/>
          <p:cNvSpPr/>
          <p:nvPr/>
        </p:nvSpPr>
        <p:spPr>
          <a:xfrm>
            <a:off x="457200" y="5029200"/>
            <a:ext cx="6400800" cy="1463040"/>
          </a:xfrm>
          <a:prstGeom prst="rect">
            <a:avLst/>
          </a:prstGeom>
          <a:solidFill>
            <a:srgbClr val="1A1A2E"/>
          </a:solidFill>
          <a:ln w="12700">
            <a:solidFill>
              <a:srgbClr val="00B4D8"/>
            </a:solidFill>
            <a:prstDash val="solid"/>
          </a:ln>
        </p:spPr>
        <p:txBody>
          <a:bodyPr/>
          <a:lstStyle/>
          <a:p>
            <a:endParaRPr lang="tr-TR"/>
          </a:p>
        </p:txBody>
      </p:sp>
      <p:sp>
        <p:nvSpPr>
          <p:cNvPr id="4" name="Text 2"/>
          <p:cNvSpPr/>
          <p:nvPr/>
        </p:nvSpPr>
        <p:spPr>
          <a:xfrm>
            <a:off x="640080" y="5166360"/>
            <a:ext cx="6035040" cy="3840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Mert Erpolat  |  Student ID: 32236</a:t>
            </a:r>
            <a:endParaRPr lang="en-US" sz="1600" dirty="0"/>
          </a:p>
        </p:txBody>
      </p:sp>
      <p:sp>
        <p:nvSpPr>
          <p:cNvPr id="5" name="Text 3"/>
          <p:cNvSpPr/>
          <p:nvPr/>
        </p:nvSpPr>
        <p:spPr>
          <a:xfrm>
            <a:off x="640080" y="5577840"/>
            <a:ext cx="6035040" cy="310896"/>
          </a:xfrm>
          <a:prstGeom prst="rect">
            <a:avLst/>
          </a:prstGeom>
          <a:noFill/>
          <a:ln/>
        </p:spPr>
        <p:txBody>
          <a:bodyPr wrap="square" rtlCol="0" anchor="ctr"/>
          <a:lstStyle/>
          <a:p>
            <a:pPr marL="0" indent="0">
              <a:buNone/>
            </a:pPr>
            <a:r>
              <a:rPr lang="en-US" sz="1300" i="1" dirty="0">
                <a:solidFill>
                  <a:srgbClr val="9BA4B5"/>
                </a:solidFill>
                <a:latin typeface="Calibri" pitchFamily="34" charset="0"/>
                <a:ea typeface="Calibri" pitchFamily="34" charset="-122"/>
                <a:cs typeface="Calibri" pitchFamily="34" charset="-120"/>
              </a:rPr>
              <a:t>DSA210 Spring 2026  —  Sabanci University</a:t>
            </a:r>
            <a:endParaRPr lang="en-US" sz="1300" dirty="0"/>
          </a:p>
        </p:txBody>
      </p:sp>
      <p:pic>
        <p:nvPicPr>
          <p:cNvPr id="6" name="kangroo">
            <a:hlinkClick r:id="" action="ppaction://media"/>
            <a:extLst>
              <a:ext uri="{FF2B5EF4-FFF2-40B4-BE49-F238E27FC236}">
                <a16:creationId xmlns:a16="http://schemas.microsoft.com/office/drawing/2014/main" id="{38030967-C5AC-17BC-C2C8-B4FB83096BC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36294" y="245404"/>
            <a:ext cx="3415626" cy="6072224"/>
          </a:xfrm>
          <a:prstGeom prst="rect">
            <a:avLst/>
          </a:prstGeom>
        </p:spPr>
      </p:pic>
      <p:sp>
        <p:nvSpPr>
          <p:cNvPr id="8" name="Dikdörtgen: Köşeleri Yuvarlatılmış 7">
            <a:extLst>
              <a:ext uri="{FF2B5EF4-FFF2-40B4-BE49-F238E27FC236}">
                <a16:creationId xmlns:a16="http://schemas.microsoft.com/office/drawing/2014/main" id="{DDABE5F4-122E-14B3-A566-F1228D913519}"/>
              </a:ext>
            </a:extLst>
          </p:cNvPr>
          <p:cNvSpPr/>
          <p:nvPr/>
        </p:nvSpPr>
        <p:spPr>
          <a:xfrm>
            <a:off x="5452810" y="1124992"/>
            <a:ext cx="2444620" cy="1407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ln w="0"/>
                <a:solidFill>
                  <a:schemeClr val="tx1"/>
                </a:solidFill>
                <a:effectLst>
                  <a:outerShdw blurRad="38100" dist="19050" dir="2700000" algn="tl" rotWithShape="0">
                    <a:schemeClr val="dk1">
                      <a:alpha val="40000"/>
                    </a:schemeClr>
                  </a:outerShdw>
                </a:effectLst>
                <a:latin typeface="3ds" panose="02000503020000020004" pitchFamily="2" charset="-94"/>
              </a:rPr>
              <a:t>LISTEN THE MAKACHEV:</a:t>
            </a:r>
          </a:p>
          <a:p>
            <a:pPr algn="ctr"/>
            <a:r>
              <a:rPr lang="tr-TR" dirty="0">
                <a:ln w="0"/>
                <a:solidFill>
                  <a:schemeClr val="tx1"/>
                </a:solidFill>
                <a:effectLst>
                  <a:outerShdw blurRad="38100" dist="19050" dir="2700000" algn="tl" rotWithShape="0">
                    <a:schemeClr val="dk1">
                      <a:alpha val="40000"/>
                    </a:schemeClr>
                  </a:outerShdw>
                </a:effectLst>
                <a:latin typeface="3ds" panose="02000503020000020004" pitchFamily="2" charset="-94"/>
              </a:rPr>
              <a:t>(</a:t>
            </a:r>
            <a:r>
              <a:rPr lang="tr-TR" dirty="0" err="1">
                <a:ln w="0"/>
                <a:solidFill>
                  <a:schemeClr val="tx1"/>
                </a:solidFill>
                <a:effectLst>
                  <a:outerShdw blurRad="38100" dist="19050" dir="2700000" algn="tl" rotWithShape="0">
                    <a:schemeClr val="dk1">
                      <a:alpha val="40000"/>
                    </a:schemeClr>
                  </a:outerShdw>
                </a:effectLst>
                <a:latin typeface="3ds" panose="02000503020000020004" pitchFamily="2" charset="-94"/>
              </a:rPr>
              <a:t>watch</a:t>
            </a:r>
            <a:r>
              <a:rPr lang="tr-TR" dirty="0">
                <a:ln w="0"/>
                <a:solidFill>
                  <a:schemeClr val="tx1"/>
                </a:solidFill>
                <a:effectLst>
                  <a:outerShdw blurRad="38100" dist="19050" dir="2700000" algn="tl" rotWithShape="0">
                    <a:schemeClr val="dk1">
                      <a:alpha val="40000"/>
                    </a:schemeClr>
                  </a:outerShdw>
                </a:effectLst>
                <a:latin typeface="3ds" panose="02000503020000020004" pitchFamily="2" charset="-94"/>
              </a:rPr>
              <a:t> </a:t>
            </a:r>
            <a:r>
              <a:rPr lang="tr-TR" dirty="0" err="1">
                <a:ln w="0"/>
                <a:solidFill>
                  <a:schemeClr val="tx1"/>
                </a:solidFill>
                <a:effectLst>
                  <a:outerShdw blurRad="38100" dist="19050" dir="2700000" algn="tl" rotWithShape="0">
                    <a:schemeClr val="dk1">
                      <a:alpha val="40000"/>
                    </a:schemeClr>
                  </a:outerShdw>
                </a:effectLst>
                <a:latin typeface="3ds" panose="02000503020000020004" pitchFamily="2" charset="-94"/>
              </a:rPr>
              <a:t>the</a:t>
            </a:r>
            <a:r>
              <a:rPr lang="tr-TR" dirty="0">
                <a:ln w="0"/>
                <a:solidFill>
                  <a:schemeClr val="tx1"/>
                </a:solidFill>
                <a:effectLst>
                  <a:outerShdw blurRad="38100" dist="19050" dir="2700000" algn="tl" rotWithShape="0">
                    <a:schemeClr val="dk1">
                      <a:alpha val="40000"/>
                    </a:schemeClr>
                  </a:outerShdw>
                </a:effectLst>
                <a:latin typeface="3ds" panose="02000503020000020004" pitchFamily="2" charset="-94"/>
              </a:rPr>
              <a:t> video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03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3587</Words>
  <Application>Microsoft Office PowerPoint</Application>
  <PresentationFormat>Geniş ekran</PresentationFormat>
  <Paragraphs>302</Paragraphs>
  <Slides>20</Slides>
  <Notes>20</Notes>
  <HiddenSlides>0</HiddenSlides>
  <MMClips>1</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20</vt:i4>
      </vt:variant>
    </vt:vector>
  </HeadingPairs>
  <TitlesOfParts>
    <vt:vector size="26" baseType="lpstr">
      <vt:lpstr>3ds</vt:lpstr>
      <vt:lpstr>Arial</vt:lpstr>
      <vt:lpstr>Arial Black</vt:lpstr>
      <vt:lpstr>Calibri</vt:lpstr>
      <vt:lpstr>Consolas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Mert ERPOLAT</cp:lastModifiedBy>
  <cp:revision>5</cp:revision>
  <dcterms:created xsi:type="dcterms:W3CDTF">2026-05-18T16:10:25Z</dcterms:created>
  <dcterms:modified xsi:type="dcterms:W3CDTF">2026-05-18T16:41:29Z</dcterms:modified>
</cp:coreProperties>
</file>